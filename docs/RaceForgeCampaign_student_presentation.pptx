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5462"/>
  </p:normalViewPr>
  <p:slideViewPr>
    <p:cSldViewPr snapToGrid="0">
      <p:cViewPr>
        <p:scale>
          <a:sx n="108" d="100"/>
          <a:sy n="108" d="100"/>
        </p:scale>
        <p:origin x="-216"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正方形/長方形 51">
            <a:extLst>
              <a:ext uri="{FF2B5EF4-FFF2-40B4-BE49-F238E27FC236}">
                <a16:creationId xmlns:a16="http://schemas.microsoft.com/office/drawing/2014/main" id="{CACC759C-0376-4596-A807-C73408E74204}"/>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CCD4AFC9-34D5-4B40-A0D0-AF3D5B01BFC0}"/>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009D959B-271C-4940-BCC5-55838245476D}"/>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DCC45A75-454F-4A11-9D7A-572AD2A45C70}"/>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300C44F3-A7D7-4F21-A232-A9AA0E83D02E}"/>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F5A7926D-8275-4973-A85B-8616AAA12588}"/>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BEE3FC6E-C07A-4342-A42F-303849DF1152}"/>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0EC1975C-5E4E-449A-B2F2-AB67E00570A4}"/>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DA44C1F0-4BB1-4219-8337-4C449237BD6D}"/>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C783D09C-7B3D-4C50-A000-CBCE4DB9BC11}"/>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8C79466A-4664-4505-AA19-F6737D521875}"/>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C197BFDC-C38B-4A12-9FAE-8EC2B6984449}"/>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1BFBB193-F919-4187-B044-FCF39A12822D}"/>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36892B63-F932-4256-9729-E782DB520F34}"/>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C8345A1A-9E0E-481A-AA13-4E2FB4CD8B19}"/>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D537A136-821B-4F9C-938B-187C11B6E2B9}"/>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E720FBF4-D5B0-4DA8-987E-73C4AA41F22B}"/>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962C42D0-5DFF-4D10-A606-359EBEFAD7C1}"/>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257C124C-3E29-49A7-833A-2F6B89F9901B}"/>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CAD59CFB-0114-4A86-9311-5CFD07C768F5}"/>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51B10BCF-B611-4CA1-9B23-C759A8680B06}"/>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396791B5-4C57-4E73-9D9D-C558A0B6870E}"/>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AD2F5DF5-D2D1-4520-B0FC-1E2CC10DC4F3}"/>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B5301CD6-2AA3-4D23-BA8E-07178FEADFD6}"/>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DB70F551-9139-4E58-8802-9191E35606C6}"/>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A9E6618D-2D29-4DE3-BE0B-6A514057D13F}"/>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AC596A63-C452-47C4-9079-3EA5E9218308}"/>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9B1E3B8F-DCFD-4DF6-905E-3C36CE855521}"/>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1C8B679C-53EC-4FEC-8807-6A7E6399C558}"/>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8B638725-7234-4E7B-9B47-CA5A6344B435}"/>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2C8B72E4-F74F-48D0-AAA4-C490526CCDD9}"/>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A2D553B8-242F-40C9-BD79-1E3A0BE1DF53}"/>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0BEE04B1-9229-431C-95B7-8A05C51206A6}"/>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262E15BB-D540-48D8-AAA5-9F144A69BD86}"/>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32EF5885-5221-456A-95FD-6ED62246B186}"/>
              </a:ext>
            </a:extLst>
          </p:cNvPr>
          <p:cNvSpPr>
            <a:spLocks noGrp="1"/>
          </p:cNvSpPr>
          <p:nvPr/>
        </p:nvSpPr>
        <p:spPr>
          <a:xfrm>
            <a:off x="685800" y="514350"/>
            <a:ext cx="1809750" cy="304800"/>
          </a:xfrm>
          <a:prstGeom prst="rect">
            <a:avLst/>
          </a:prstGeom>
          <a:solidFill>
            <a:srgbClr val="FFE37A"/>
          </a:solidFill>
          <a:ln w="11430">
            <a:solidFill>
              <a:srgbClr val="1D2733"/>
            </a:solidFill>
            <a:prstDash val="solid"/>
          </a:ln>
        </p:spPr>
        <p:txBody>
          <a:bodyPr/>
          <a:lstStyle/>
          <a:p>
            <a:endParaRPr lang="ja-JP" altLang="en-US"/>
          </a:p>
        </p:txBody>
      </p:sp>
      <p:sp>
        <p:nvSpPr>
          <p:cNvPr id="36" name="正方形/長方形 35">
            <a:extLst>
              <a:ext uri="{FF2B5EF4-FFF2-40B4-BE49-F238E27FC236}">
                <a16:creationId xmlns:a16="http://schemas.microsoft.com/office/drawing/2014/main" id="{A8A2BDE4-34D6-43B2-836F-4F9A32ABF686}"/>
              </a:ext>
            </a:extLst>
          </p:cNvPr>
          <p:cNvSpPr>
            <a:spLocks noGrp="1"/>
          </p:cNvSpPr>
          <p:nvPr/>
        </p:nvSpPr>
        <p:spPr>
          <a:xfrm>
            <a:off x="781050" y="581025"/>
            <a:ext cx="1619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825" b="1">
                <a:solidFill>
                  <a:srgbClr val="1D2733"/>
                </a:solidFill>
                <a:latin typeface="Avenir Next"/>
                <a:ea typeface="Avenir Next"/>
                <a:cs typeface="Avenir Next"/>
              </a:rPr>
              <a:t>Development Tool 課題</a:t>
            </a:r>
          </a:p>
        </p:txBody>
      </p:sp>
      <p:sp>
        <p:nvSpPr>
          <p:cNvPr id="37" name="正方形/長方形 36">
            <a:extLst>
              <a:ext uri="{FF2B5EF4-FFF2-40B4-BE49-F238E27FC236}">
                <a16:creationId xmlns:a16="http://schemas.microsoft.com/office/drawing/2014/main" id="{62524D78-69A8-4125-8ED3-95560BA00167}"/>
              </a:ext>
            </a:extLst>
          </p:cNvPr>
          <p:cNvSpPr>
            <a:spLocks noGrp="1"/>
          </p:cNvSpPr>
          <p:nvPr/>
        </p:nvSpPr>
        <p:spPr>
          <a:xfrm>
            <a:off x="685800" y="1314450"/>
            <a:ext cx="66675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1D2733"/>
                </a:solidFill>
                <a:latin typeface="Hiragino Sans"/>
                <a:ea typeface="Hiragino Sans"/>
                <a:cs typeface="Hiragino Sans"/>
              </a:defRPr>
            </a:pPr>
            <a:r>
              <a:rPr sz="3000" b="1">
                <a:solidFill>
                  <a:srgbClr val="1D2733"/>
                </a:solidFill>
                <a:latin typeface="Hiragino Sans"/>
                <a:ea typeface="Hiragino Sans"/>
                <a:cs typeface="Hiragino Sans"/>
              </a:rPr>
              <a:t>RaceForgeCampaign</a:t>
            </a:r>
          </a:p>
        </p:txBody>
      </p:sp>
      <p:sp>
        <p:nvSpPr>
          <p:cNvPr id="38" name="正方形/長方形 37">
            <a:extLst>
              <a:ext uri="{FF2B5EF4-FFF2-40B4-BE49-F238E27FC236}">
                <a16:creationId xmlns:a16="http://schemas.microsoft.com/office/drawing/2014/main" id="{47650FD0-00F7-4076-A72D-640325A0B8BF}"/>
              </a:ext>
            </a:extLst>
          </p:cNvPr>
          <p:cNvSpPr>
            <a:spLocks noGrp="1"/>
          </p:cNvSpPr>
          <p:nvPr/>
        </p:nvSpPr>
        <p:spPr>
          <a:xfrm>
            <a:off x="723900" y="2000250"/>
            <a:ext cx="74295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2F80ED"/>
                </a:solidFill>
                <a:latin typeface="Hiragino Sans"/>
                <a:ea typeface="Hiragino Sans"/>
                <a:cs typeface="Hiragino Sans"/>
              </a:defRPr>
            </a:pPr>
            <a:r>
              <a:rPr sz="1800" b="1">
                <a:solidFill>
                  <a:srgbClr val="2F80ED"/>
                </a:solidFill>
                <a:latin typeface="Hiragino Sans"/>
                <a:ea typeface="Hiragino Sans"/>
                <a:cs typeface="Hiragino Sans"/>
              </a:rPr>
              <a:t>Sepolia スマートコントラクト発表</a:t>
            </a:r>
          </a:p>
        </p:txBody>
      </p:sp>
      <p:sp>
        <p:nvSpPr>
          <p:cNvPr id="39" name="正方形/長方形 38">
            <a:extLst>
              <a:ext uri="{FF2B5EF4-FFF2-40B4-BE49-F238E27FC236}">
                <a16:creationId xmlns:a16="http://schemas.microsoft.com/office/drawing/2014/main" id="{AAE481B2-6B46-49C3-B5E2-7A64D8927820}"/>
              </a:ext>
            </a:extLst>
          </p:cNvPr>
          <p:cNvSpPr>
            <a:spLocks noGrp="1"/>
          </p:cNvSpPr>
          <p:nvPr/>
        </p:nvSpPr>
        <p:spPr>
          <a:xfrm>
            <a:off x="742950" y="2628900"/>
            <a:ext cx="72390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667788"/>
                </a:solidFill>
                <a:latin typeface="Hiragino Sans"/>
                <a:ea typeface="Hiragino Sans"/>
                <a:cs typeface="Hiragino Sans"/>
              </a:defRPr>
            </a:pPr>
            <a:r>
              <a:rPr sz="1275" b="0">
                <a:solidFill>
                  <a:srgbClr val="667788"/>
                </a:solidFill>
                <a:latin typeface="Hiragino Sans"/>
                <a:ea typeface="Hiragino Sans"/>
                <a:cs typeface="Hiragino Sans"/>
              </a:rPr>
              <a:t>レース車を作って、ETHを払うと能力が上がる、というテーマで作りました。</a:t>
            </a:r>
          </a:p>
        </p:txBody>
      </p:sp>
      <p:sp>
        <p:nvSpPr>
          <p:cNvPr id="40" name="正方形/長方形 39">
            <a:extLst>
              <a:ext uri="{FF2B5EF4-FFF2-40B4-BE49-F238E27FC236}">
                <a16:creationId xmlns:a16="http://schemas.microsoft.com/office/drawing/2014/main" id="{5232B011-91CE-4710-8124-0CC5A3013751}"/>
              </a:ext>
            </a:extLst>
          </p:cNvPr>
          <p:cNvSpPr>
            <a:spLocks noGrp="1"/>
          </p:cNvSpPr>
          <p:nvPr/>
        </p:nvSpPr>
        <p:spPr>
          <a:xfrm>
            <a:off x="8286750" y="1123950"/>
            <a:ext cx="2571750" cy="3048000"/>
          </a:xfrm>
          <a:prstGeom prst="rect">
            <a:avLst/>
          </a:prstGeom>
          <a:solidFill>
            <a:srgbClr val="FFE37A"/>
          </a:solidFill>
          <a:ln w="11430">
            <a:solidFill>
              <a:srgbClr val="1D2733"/>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3E17E226-8A12-4F85-8D91-0F0209FE5D4C}"/>
              </a:ext>
            </a:extLst>
          </p:cNvPr>
          <p:cNvSpPr>
            <a:spLocks noGrp="1"/>
          </p:cNvSpPr>
          <p:nvPr/>
        </p:nvSpPr>
        <p:spPr>
          <a:xfrm>
            <a:off x="8458200" y="1295399"/>
            <a:ext cx="2219325" cy="279082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lang="ja-JP" altLang="en-US" sz="1600" b="1">
                <a:solidFill>
                  <a:srgbClr val="1D2733"/>
                </a:solidFill>
                <a:latin typeface="Hiragino Sans"/>
                <a:ea typeface="Hiragino Sans"/>
                <a:cs typeface="Hiragino Sans"/>
              </a:rPr>
              <a:t>目次</a:t>
            </a:r>
            <a:endParaRPr sz="1600" b="1" dirty="0">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600" b="1" dirty="0">
                <a:solidFill>
                  <a:srgbClr val="1D2733"/>
                </a:solidFill>
                <a:latin typeface="Hiragino Sans"/>
                <a:ea typeface="Hiragino Sans"/>
                <a:cs typeface="Hiragino Sans"/>
              </a:rPr>
              <a:t>1. </a:t>
            </a:r>
            <a:r>
              <a:rPr sz="1600" b="1" dirty="0" err="1">
                <a:solidFill>
                  <a:srgbClr val="1D2733"/>
                </a:solidFill>
                <a:latin typeface="Hiragino Sans"/>
                <a:ea typeface="Hiragino Sans"/>
                <a:cs typeface="Hiragino Sans"/>
              </a:rPr>
              <a:t>課題要件</a:t>
            </a:r>
            <a:endParaRPr sz="1600" b="1" dirty="0">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600" b="1" dirty="0">
                <a:solidFill>
                  <a:srgbClr val="1D2733"/>
                </a:solidFill>
                <a:latin typeface="Hiragino Sans"/>
                <a:ea typeface="Hiragino Sans"/>
                <a:cs typeface="Hiragino Sans"/>
              </a:rPr>
              <a:t>2. </a:t>
            </a:r>
            <a:r>
              <a:rPr sz="1600" b="1" dirty="0" err="1">
                <a:solidFill>
                  <a:srgbClr val="1D2733"/>
                </a:solidFill>
                <a:latin typeface="Hiragino Sans"/>
                <a:ea typeface="Hiragino Sans"/>
                <a:cs typeface="Hiragino Sans"/>
              </a:rPr>
              <a:t>テーマ</a:t>
            </a:r>
            <a:endParaRPr sz="1600" b="1" dirty="0">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600" b="1" dirty="0">
                <a:solidFill>
                  <a:srgbClr val="1D2733"/>
                </a:solidFill>
                <a:latin typeface="Hiragino Sans"/>
                <a:ea typeface="Hiragino Sans"/>
                <a:cs typeface="Hiragino Sans"/>
              </a:rPr>
              <a:t>3. </a:t>
            </a:r>
            <a:r>
              <a:rPr sz="1600" b="1" dirty="0" err="1">
                <a:solidFill>
                  <a:srgbClr val="1D2733"/>
                </a:solidFill>
                <a:latin typeface="Hiragino Sans"/>
                <a:ea typeface="Hiragino Sans"/>
                <a:cs typeface="Hiragino Sans"/>
              </a:rPr>
              <a:t>コード</a:t>
            </a:r>
            <a:endParaRPr sz="1600" b="1" dirty="0">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600" b="1" dirty="0">
                <a:solidFill>
                  <a:srgbClr val="1D2733"/>
                </a:solidFill>
                <a:latin typeface="Hiragino Sans"/>
                <a:ea typeface="Hiragino Sans"/>
                <a:cs typeface="Hiragino Sans"/>
              </a:rPr>
              <a:t>4. </a:t>
            </a:r>
            <a:r>
              <a:rPr sz="1600" b="1" dirty="0" err="1">
                <a:solidFill>
                  <a:srgbClr val="1D2733"/>
                </a:solidFill>
                <a:latin typeface="Hiragino Sans"/>
                <a:ea typeface="Hiragino Sans"/>
                <a:cs typeface="Hiragino Sans"/>
              </a:rPr>
              <a:t>実行結果</a:t>
            </a:r>
            <a:endParaRPr sz="1600" b="1" dirty="0">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600" b="1" dirty="0">
                <a:solidFill>
                  <a:srgbClr val="1D2733"/>
                </a:solidFill>
                <a:latin typeface="Hiragino Sans"/>
                <a:ea typeface="Hiragino Sans"/>
                <a:cs typeface="Hiragino Sans"/>
              </a:rPr>
              <a:t>5. </a:t>
            </a:r>
            <a:r>
              <a:rPr sz="1600" b="1" dirty="0" err="1">
                <a:solidFill>
                  <a:srgbClr val="1D2733"/>
                </a:solidFill>
                <a:latin typeface="Hiragino Sans"/>
                <a:ea typeface="Hiragino Sans"/>
                <a:cs typeface="Hiragino Sans"/>
              </a:rPr>
              <a:t>感想</a:t>
            </a:r>
            <a:endParaRPr sz="1600" b="1" dirty="0">
              <a:solidFill>
                <a:srgbClr val="1D2733"/>
              </a:solidFill>
              <a:latin typeface="Hiragino Sans"/>
              <a:ea typeface="Hiragino Sans"/>
              <a:cs typeface="Hiragino Sans"/>
            </a:endParaRPr>
          </a:p>
        </p:txBody>
      </p:sp>
      <p:sp>
        <p:nvSpPr>
          <p:cNvPr id="42" name="正方形/長方形 41">
            <a:extLst>
              <a:ext uri="{FF2B5EF4-FFF2-40B4-BE49-F238E27FC236}">
                <a16:creationId xmlns:a16="http://schemas.microsoft.com/office/drawing/2014/main" id="{A8B86168-1518-470E-9E01-D7E5B4759056}"/>
              </a:ext>
            </a:extLst>
          </p:cNvPr>
          <p:cNvSpPr>
            <a:spLocks noGrp="1"/>
          </p:cNvSpPr>
          <p:nvPr/>
        </p:nvSpPr>
        <p:spPr>
          <a:xfrm>
            <a:off x="876300" y="3867150"/>
            <a:ext cx="95250" cy="95250"/>
          </a:xfrm>
          <a:prstGeom prst="rect">
            <a:avLst/>
          </a:prstGeom>
          <a:solidFill>
            <a:srgbClr val="2F80ED"/>
          </a:solidFill>
          <a:ln w="0">
            <a:solidFill>
              <a:srgbClr val="000000">
                <a:alpha val="0"/>
              </a:srgbClr>
            </a:solidFill>
            <a:prstDash val="solid"/>
          </a:ln>
        </p:spPr>
        <p:txBody>
          <a:bodyPr/>
          <a:lstStyle/>
          <a:p>
            <a:endParaRPr lang="ja-JP" altLang="en-US"/>
          </a:p>
        </p:txBody>
      </p:sp>
      <p:sp>
        <p:nvSpPr>
          <p:cNvPr id="43" name="正方形/長方形 42">
            <a:extLst>
              <a:ext uri="{FF2B5EF4-FFF2-40B4-BE49-F238E27FC236}">
                <a16:creationId xmlns:a16="http://schemas.microsoft.com/office/drawing/2014/main" id="{7334B73C-73DC-46B2-A996-59FBA910EE84}"/>
              </a:ext>
            </a:extLst>
          </p:cNvPr>
          <p:cNvSpPr>
            <a:spLocks noGrp="1"/>
          </p:cNvSpPr>
          <p:nvPr/>
        </p:nvSpPr>
        <p:spPr>
          <a:xfrm>
            <a:off x="1085850" y="3790950"/>
            <a:ext cx="5695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Solidityでスマートコントラクトを作成</a:t>
            </a:r>
          </a:p>
        </p:txBody>
      </p:sp>
      <p:sp>
        <p:nvSpPr>
          <p:cNvPr id="44" name="正方形/長方形 43">
            <a:extLst>
              <a:ext uri="{FF2B5EF4-FFF2-40B4-BE49-F238E27FC236}">
                <a16:creationId xmlns:a16="http://schemas.microsoft.com/office/drawing/2014/main" id="{0BB3E1C3-0F7B-4105-BD16-68620D31EA3D}"/>
              </a:ext>
            </a:extLst>
          </p:cNvPr>
          <p:cNvSpPr>
            <a:spLocks noGrp="1"/>
          </p:cNvSpPr>
          <p:nvPr/>
        </p:nvSpPr>
        <p:spPr>
          <a:xfrm>
            <a:off x="876300" y="4343400"/>
            <a:ext cx="95250" cy="95250"/>
          </a:xfrm>
          <a:prstGeom prst="rect">
            <a:avLst/>
          </a:prstGeom>
          <a:solidFill>
            <a:srgbClr val="8BE06B"/>
          </a:solidFill>
          <a:ln w="0">
            <a:solidFill>
              <a:srgbClr val="000000">
                <a:alpha val="0"/>
              </a:srgbClr>
            </a:solidFill>
            <a:prstDash val="solid"/>
          </a:ln>
        </p:spPr>
        <p:txBody>
          <a:bodyPr/>
          <a:lstStyle/>
          <a:p>
            <a:endParaRPr lang="ja-JP" altLang="en-US"/>
          </a:p>
        </p:txBody>
      </p:sp>
      <p:sp>
        <p:nvSpPr>
          <p:cNvPr id="45" name="正方形/長方形 44">
            <a:extLst>
              <a:ext uri="{FF2B5EF4-FFF2-40B4-BE49-F238E27FC236}">
                <a16:creationId xmlns:a16="http://schemas.microsoft.com/office/drawing/2014/main" id="{329B9B90-95A3-43B7-BCA8-F97786C08349}"/>
              </a:ext>
            </a:extLst>
          </p:cNvPr>
          <p:cNvSpPr>
            <a:spLocks noGrp="1"/>
          </p:cNvSpPr>
          <p:nvPr/>
        </p:nvSpPr>
        <p:spPr>
          <a:xfrm>
            <a:off x="1085850" y="4267200"/>
            <a:ext cx="5695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Sepoliaテストネットにデプロイ</a:t>
            </a:r>
          </a:p>
        </p:txBody>
      </p:sp>
      <p:sp>
        <p:nvSpPr>
          <p:cNvPr id="46" name="正方形/長方形 45">
            <a:extLst>
              <a:ext uri="{FF2B5EF4-FFF2-40B4-BE49-F238E27FC236}">
                <a16:creationId xmlns:a16="http://schemas.microsoft.com/office/drawing/2014/main" id="{D31F4E89-2541-40F2-B2D3-6BF7DF2C7F86}"/>
              </a:ext>
            </a:extLst>
          </p:cNvPr>
          <p:cNvSpPr>
            <a:spLocks noGrp="1"/>
          </p:cNvSpPr>
          <p:nvPr/>
        </p:nvSpPr>
        <p:spPr>
          <a:xfrm>
            <a:off x="876300" y="4819650"/>
            <a:ext cx="95250" cy="95250"/>
          </a:xfrm>
          <a:prstGeom prst="rect">
            <a:avLst/>
          </a:prstGeom>
          <a:solidFill>
            <a:srgbClr val="FFB454"/>
          </a:solidFill>
          <a:ln w="0">
            <a:solidFill>
              <a:srgbClr val="000000">
                <a:alpha val="0"/>
              </a:srgbClr>
            </a:solidFill>
            <a:prstDash val="solid"/>
          </a:ln>
        </p:spPr>
        <p:txBody>
          <a:bodyPr/>
          <a:lstStyle/>
          <a:p>
            <a:endParaRPr lang="ja-JP" altLang="en-US"/>
          </a:p>
        </p:txBody>
      </p:sp>
      <p:sp>
        <p:nvSpPr>
          <p:cNvPr id="47" name="正方形/長方形 46">
            <a:extLst>
              <a:ext uri="{FF2B5EF4-FFF2-40B4-BE49-F238E27FC236}">
                <a16:creationId xmlns:a16="http://schemas.microsoft.com/office/drawing/2014/main" id="{231A8926-2938-4A60-BE1B-F836B05365DF}"/>
              </a:ext>
            </a:extLst>
          </p:cNvPr>
          <p:cNvSpPr>
            <a:spLocks noGrp="1"/>
          </p:cNvSpPr>
          <p:nvPr/>
        </p:nvSpPr>
        <p:spPr>
          <a:xfrm>
            <a:off x="1085850" y="4743450"/>
            <a:ext cx="56959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Webゲームはテーマを見せるためのデモ</a:t>
            </a:r>
          </a:p>
        </p:txBody>
      </p:sp>
      <p:sp>
        <p:nvSpPr>
          <p:cNvPr id="50" name="正方形/長方形 49">
            <a:extLst>
              <a:ext uri="{FF2B5EF4-FFF2-40B4-BE49-F238E27FC236}">
                <a16:creationId xmlns:a16="http://schemas.microsoft.com/office/drawing/2014/main" id="{8C543D03-D7AF-41D0-A694-F91451448BFF}"/>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RaceForgeCampaign.sol</a:t>
            </a:r>
          </a:p>
        </p:txBody>
      </p:sp>
      <p:sp>
        <p:nvSpPr>
          <p:cNvPr id="51" name="正方形/長方形 50">
            <a:extLst>
              <a:ext uri="{FF2B5EF4-FFF2-40B4-BE49-F238E27FC236}">
                <a16:creationId xmlns:a16="http://schemas.microsoft.com/office/drawing/2014/main" id="{5B719BC2-FE9A-47F4-A1F0-3A5D1F821124}"/>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01</a:t>
            </a:r>
          </a:p>
        </p:txBody>
      </p:sp>
    </p:spTree>
    <p:extLst>
      <p:ext uri="{BB962C8B-B14F-4D97-AF65-F5344CB8AC3E}">
        <p14:creationId xmlns:p14="http://schemas.microsoft.com/office/powerpoint/2010/main" val="870906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正方形/長方形 84">
            <a:extLst>
              <a:ext uri="{FF2B5EF4-FFF2-40B4-BE49-F238E27FC236}">
                <a16:creationId xmlns:a16="http://schemas.microsoft.com/office/drawing/2014/main" id="{4F0ABCC0-5A2A-4B29-BE17-76D1E362FFAF}"/>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6CD9324D-0882-44B3-8B68-2FD802F6AE41}"/>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330E3274-99EB-4C73-9D67-DA0C26170120}"/>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AE5E9660-96B4-4781-8628-D2C42225C610}"/>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59BA00D-C317-46FB-B9DD-44F661CF39B1}"/>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450F7D04-4ACD-4E8F-8F32-7B6A59B40796}"/>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26F25DC5-DBAE-4BA8-BA6D-B247C458CA88}"/>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CF922A3E-8688-4ED9-9402-FEA4255D194B}"/>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62C5917D-4044-4705-9560-8FEE8EB76511}"/>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F9CDEAC1-47EF-4140-8C36-7EB0E8434436}"/>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EAC04580-11FA-450D-A864-A96AD29A57E8}"/>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16CD7309-E877-49D7-96F3-E4F79B5B5114}"/>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7D4D0862-190C-4BB1-B956-73ADB1A077D6}"/>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DC8A36EA-036F-47D4-A501-0E8CAF32ECC0}"/>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2E1EC252-AB0E-4BDF-9D8D-C7FBAAEE278F}"/>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33429BB4-04B2-49A4-BC42-F8EBE6DE9934}"/>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B6F0E636-F479-4848-81AD-A884E0A8E96D}"/>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8063AAB2-B0E4-4233-9FEA-C962AD40FB35}"/>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D002DD66-9ADE-4D99-A055-E88172F65361}"/>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CC5AC659-DE17-4FBF-9B01-7FE02C2A680B}"/>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41F9C7B2-C6DD-48C9-8518-8E140A9E8435}"/>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27D4B159-E14D-4952-ACE2-C0659FFC2029}"/>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AD27D388-853C-44D5-8561-6D9CCE4F07FF}"/>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36F0C110-CF55-4266-A883-103588010956}"/>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706DA5D7-B33B-4431-9EED-B00DCC56960B}"/>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7D25F414-D761-494B-9855-ACA9D3C8C54D}"/>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15EAB9FA-70CE-4B2D-B0A8-FFF072CC82F7}"/>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D73E176F-60FA-4768-84FE-E456A7FB190A}"/>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2A595DB7-7D6E-4AEA-8B25-70160F92EB8E}"/>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EC7957E4-3CBE-4BA3-9BEF-4C0E71E4B56E}"/>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829F689B-2554-4BF4-861B-CA1180DDA4FB}"/>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0B8EE0BE-35D9-4F79-AAF0-C97785787C0F}"/>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A1C611AD-C6B4-4817-8040-0F41E88098DD}"/>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9A6E74F5-E5B3-4CA9-86D0-6627C69406ED}"/>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04B0B6EC-423E-4063-9A56-D0066F574390}"/>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課題要件をひとつずつ確認</a:t>
            </a:r>
          </a:p>
        </p:txBody>
      </p:sp>
      <p:sp>
        <p:nvSpPr>
          <p:cNvPr id="36" name="正方形/長方形 35">
            <a:extLst>
              <a:ext uri="{FF2B5EF4-FFF2-40B4-BE49-F238E27FC236}">
                <a16:creationId xmlns:a16="http://schemas.microsoft.com/office/drawing/2014/main" id="{AB2A717C-0837-4EE1-A65F-6F180F4BAD37}"/>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この表の5つを満たしていることを発表で説明します。</a:t>
            </a:r>
          </a:p>
        </p:txBody>
      </p:sp>
      <p:sp>
        <p:nvSpPr>
          <p:cNvPr id="37" name="正方形/長方形 36">
            <a:extLst>
              <a:ext uri="{FF2B5EF4-FFF2-40B4-BE49-F238E27FC236}">
                <a16:creationId xmlns:a16="http://schemas.microsoft.com/office/drawing/2014/main" id="{A67F471F-5D4D-401B-91CD-EE43AC549526}"/>
              </a:ext>
            </a:extLst>
          </p:cNvPr>
          <p:cNvSpPr>
            <a:spLocks noGrp="1"/>
          </p:cNvSpPr>
          <p:nvPr/>
        </p:nvSpPr>
        <p:spPr>
          <a:xfrm>
            <a:off x="685800" y="1790700"/>
            <a:ext cx="1428750" cy="304800"/>
          </a:xfrm>
          <a:prstGeom prst="rect">
            <a:avLst/>
          </a:prstGeom>
          <a:solidFill>
            <a:srgbClr val="FFE37A"/>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286C1F55-A5FF-4364-A813-34B170892DE2}"/>
              </a:ext>
            </a:extLst>
          </p:cNvPr>
          <p:cNvSpPr>
            <a:spLocks noGrp="1"/>
          </p:cNvSpPr>
          <p:nvPr/>
        </p:nvSpPr>
        <p:spPr>
          <a:xfrm>
            <a:off x="781050" y="1857375"/>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825" b="1">
                <a:solidFill>
                  <a:srgbClr val="1D2733"/>
                </a:solidFill>
                <a:latin typeface="Avenir Next"/>
                <a:ea typeface="Avenir Next"/>
                <a:cs typeface="Avenir Next"/>
              </a:rPr>
              <a:t>要件チェック</a:t>
            </a:r>
          </a:p>
        </p:txBody>
      </p:sp>
      <p:sp>
        <p:nvSpPr>
          <p:cNvPr id="39" name="正方形/長方形 38">
            <a:extLst>
              <a:ext uri="{FF2B5EF4-FFF2-40B4-BE49-F238E27FC236}">
                <a16:creationId xmlns:a16="http://schemas.microsoft.com/office/drawing/2014/main" id="{50DE16CE-CD28-44B9-98A1-A1BC1AD62AF8}"/>
              </a:ext>
            </a:extLst>
          </p:cNvPr>
          <p:cNvSpPr>
            <a:spLocks noGrp="1"/>
          </p:cNvSpPr>
          <p:nvPr/>
        </p:nvSpPr>
        <p:spPr>
          <a:xfrm>
            <a:off x="1562100" y="2209800"/>
            <a:ext cx="238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667788"/>
                </a:solidFill>
                <a:latin typeface="Avenir Next"/>
                <a:ea typeface="Avenir Next"/>
                <a:cs typeface="Avenir Next"/>
              </a:defRPr>
            </a:pPr>
            <a:r>
              <a:rPr sz="825" b="1">
                <a:solidFill>
                  <a:srgbClr val="667788"/>
                </a:solidFill>
                <a:latin typeface="Avenir Next"/>
                <a:ea typeface="Avenir Next"/>
                <a:cs typeface="Avenir Next"/>
              </a:rPr>
              <a:t>Requirement</a:t>
            </a:r>
          </a:p>
        </p:txBody>
      </p:sp>
      <p:sp>
        <p:nvSpPr>
          <p:cNvPr id="40" name="正方形/長方形 39">
            <a:extLst>
              <a:ext uri="{FF2B5EF4-FFF2-40B4-BE49-F238E27FC236}">
                <a16:creationId xmlns:a16="http://schemas.microsoft.com/office/drawing/2014/main" id="{F5B37DA6-20D6-43C1-8C64-1CA4D8D771C0}"/>
              </a:ext>
            </a:extLst>
          </p:cNvPr>
          <p:cNvSpPr>
            <a:spLocks noGrp="1"/>
          </p:cNvSpPr>
          <p:nvPr/>
        </p:nvSpPr>
        <p:spPr>
          <a:xfrm>
            <a:off x="5562600" y="2209800"/>
            <a:ext cx="2381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667788"/>
                </a:solidFill>
                <a:latin typeface="Hiragino Sans"/>
                <a:ea typeface="Hiragino Sans"/>
                <a:cs typeface="Hiragino Sans"/>
              </a:defRPr>
            </a:pPr>
            <a:r>
              <a:rPr sz="825" b="1">
                <a:solidFill>
                  <a:srgbClr val="667788"/>
                </a:solidFill>
                <a:latin typeface="Hiragino Sans"/>
                <a:ea typeface="Hiragino Sans"/>
                <a:cs typeface="Hiragino Sans"/>
              </a:rPr>
              <a:t>自分の実装</a:t>
            </a:r>
          </a:p>
        </p:txBody>
      </p:sp>
      <p:sp>
        <p:nvSpPr>
          <p:cNvPr id="41" name="正方形/長方形 40">
            <a:extLst>
              <a:ext uri="{FF2B5EF4-FFF2-40B4-BE49-F238E27FC236}">
                <a16:creationId xmlns:a16="http://schemas.microsoft.com/office/drawing/2014/main" id="{8A12B7DA-2A9E-4E77-9E1C-F41AD5A8ABEF}"/>
              </a:ext>
            </a:extLst>
          </p:cNvPr>
          <p:cNvSpPr>
            <a:spLocks noGrp="1"/>
          </p:cNvSpPr>
          <p:nvPr/>
        </p:nvSpPr>
        <p:spPr>
          <a:xfrm>
            <a:off x="819150" y="2457450"/>
            <a:ext cx="457200" cy="495300"/>
          </a:xfrm>
          <a:prstGeom prst="rect">
            <a:avLst/>
          </a:prstGeom>
          <a:solidFill>
            <a:srgbClr val="37C6D0"/>
          </a:solidFill>
          <a:ln w="9525">
            <a:solidFill>
              <a:srgbClr val="1D2733"/>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3D0E855A-23D6-431F-B3F8-26E8219F2896}"/>
              </a:ext>
            </a:extLst>
          </p:cNvPr>
          <p:cNvSpPr>
            <a:spLocks noGrp="1"/>
          </p:cNvSpPr>
          <p:nvPr/>
        </p:nvSpPr>
        <p:spPr>
          <a:xfrm>
            <a:off x="952500" y="2581275"/>
            <a:ext cx="190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1</a:t>
            </a:r>
          </a:p>
        </p:txBody>
      </p:sp>
      <p:sp>
        <p:nvSpPr>
          <p:cNvPr id="43" name="正方形/長方形 42">
            <a:extLst>
              <a:ext uri="{FF2B5EF4-FFF2-40B4-BE49-F238E27FC236}">
                <a16:creationId xmlns:a16="http://schemas.microsoft.com/office/drawing/2014/main" id="{171A5824-BD98-4BFE-8977-CB66547755F9}"/>
              </a:ext>
            </a:extLst>
          </p:cNvPr>
          <p:cNvSpPr>
            <a:spLocks noGrp="1"/>
          </p:cNvSpPr>
          <p:nvPr/>
        </p:nvSpPr>
        <p:spPr>
          <a:xfrm>
            <a:off x="1409700" y="2457450"/>
            <a:ext cx="4000500" cy="495300"/>
          </a:xfrm>
          <a:prstGeom prst="rect">
            <a:avLst/>
          </a:prstGeom>
          <a:solidFill>
            <a:srgbClr val="FFFFFF"/>
          </a:solidFill>
          <a:ln w="9525">
            <a:solidFill>
              <a:srgbClr val="CCD7DF"/>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E930FCFA-3E6F-46C3-B275-A0FF008A1C91}"/>
              </a:ext>
            </a:extLst>
          </p:cNvPr>
          <p:cNvSpPr>
            <a:spLocks noGrp="1"/>
          </p:cNvSpPr>
          <p:nvPr/>
        </p:nvSpPr>
        <p:spPr>
          <a:xfrm>
            <a:off x="5410200" y="2457450"/>
            <a:ext cx="4857750" cy="495300"/>
          </a:xfrm>
          <a:prstGeom prst="rect">
            <a:avLst/>
          </a:prstGeom>
          <a:solidFill>
            <a:srgbClr val="FFFFFF"/>
          </a:solidFill>
          <a:ln w="9525">
            <a:solidFill>
              <a:srgbClr val="CCD7DF"/>
            </a:solidFill>
            <a:prstDash val="solid"/>
          </a:ln>
        </p:spPr>
        <p:txBody>
          <a:bodyPr/>
          <a:lstStyle/>
          <a:p>
            <a:endParaRPr lang="ja-JP" altLang="en-US"/>
          </a:p>
        </p:txBody>
      </p:sp>
      <p:sp>
        <p:nvSpPr>
          <p:cNvPr id="45" name="正方形/長方形 44">
            <a:extLst>
              <a:ext uri="{FF2B5EF4-FFF2-40B4-BE49-F238E27FC236}">
                <a16:creationId xmlns:a16="http://schemas.microsoft.com/office/drawing/2014/main" id="{D352CFA9-BC84-4DC6-97C1-AE11DA3CD8DE}"/>
              </a:ext>
            </a:extLst>
          </p:cNvPr>
          <p:cNvSpPr>
            <a:spLocks noGrp="1"/>
          </p:cNvSpPr>
          <p:nvPr/>
        </p:nvSpPr>
        <p:spPr>
          <a:xfrm>
            <a:off x="10267950" y="2457450"/>
            <a:ext cx="800100" cy="495300"/>
          </a:xfrm>
          <a:prstGeom prst="rect">
            <a:avLst/>
          </a:prstGeom>
          <a:solidFill>
            <a:srgbClr val="E9F8E2"/>
          </a:solidFill>
          <a:ln w="9525">
            <a:solidFill>
              <a:srgbClr val="8BE06B"/>
            </a:solidFill>
            <a:prstDash val="solid"/>
          </a:ln>
        </p:spPr>
        <p:txBody>
          <a:bodyPr/>
          <a:lstStyle/>
          <a:p>
            <a:endParaRPr lang="ja-JP" altLang="en-US"/>
          </a:p>
        </p:txBody>
      </p:sp>
      <p:sp>
        <p:nvSpPr>
          <p:cNvPr id="46" name="正方形/長方形 45">
            <a:extLst>
              <a:ext uri="{FF2B5EF4-FFF2-40B4-BE49-F238E27FC236}">
                <a16:creationId xmlns:a16="http://schemas.microsoft.com/office/drawing/2014/main" id="{017CEAAA-FA3A-456F-9677-82997215EB5F}"/>
              </a:ext>
            </a:extLst>
          </p:cNvPr>
          <p:cNvSpPr>
            <a:spLocks noGrp="1"/>
          </p:cNvSpPr>
          <p:nvPr/>
        </p:nvSpPr>
        <p:spPr>
          <a:xfrm>
            <a:off x="1562100" y="2571750"/>
            <a:ext cx="3695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external function</a:t>
            </a:r>
          </a:p>
        </p:txBody>
      </p:sp>
      <p:sp>
        <p:nvSpPr>
          <p:cNvPr id="47" name="正方形/長方形 46">
            <a:extLst>
              <a:ext uri="{FF2B5EF4-FFF2-40B4-BE49-F238E27FC236}">
                <a16:creationId xmlns:a16="http://schemas.microsoft.com/office/drawing/2014/main" id="{DCB2D42B-D668-4BBA-ADE4-FA87E6903EC1}"/>
              </a:ext>
            </a:extLst>
          </p:cNvPr>
          <p:cNvSpPr>
            <a:spLocks noGrp="1"/>
          </p:cNvSpPr>
          <p:nvPr/>
        </p:nvSpPr>
        <p:spPr>
          <a:xfrm>
            <a:off x="5562600" y="2571750"/>
            <a:ext cx="4552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1D2733"/>
                </a:solidFill>
                <a:latin typeface="Hiragino Sans"/>
                <a:ea typeface="Hiragino Sans"/>
                <a:cs typeface="Hiragino Sans"/>
              </a:defRPr>
            </a:pPr>
            <a:r>
              <a:rPr sz="1013" b="0">
                <a:solidFill>
                  <a:srgbClr val="1D2733"/>
                </a:solidFill>
                <a:latin typeface="Hiragino Sans"/>
                <a:ea typeface="Hiragino Sans"/>
                <a:cs typeface="Hiragino Sans"/>
              </a:rPr>
              <a:t>createCar / recordRaceResult</a:t>
            </a:r>
          </a:p>
        </p:txBody>
      </p:sp>
      <p:sp>
        <p:nvSpPr>
          <p:cNvPr id="48" name="正方形/長方形 47">
            <a:extLst>
              <a:ext uri="{FF2B5EF4-FFF2-40B4-BE49-F238E27FC236}">
                <a16:creationId xmlns:a16="http://schemas.microsoft.com/office/drawing/2014/main" id="{36E6ED7D-8460-4289-AB5D-F5CE275F3828}"/>
              </a:ext>
            </a:extLst>
          </p:cNvPr>
          <p:cNvSpPr>
            <a:spLocks noGrp="1"/>
          </p:cNvSpPr>
          <p:nvPr/>
        </p:nvSpPr>
        <p:spPr>
          <a:xfrm>
            <a:off x="10496550" y="2581275"/>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2733"/>
                </a:solidFill>
                <a:latin typeface="Hiragino Sans"/>
                <a:ea typeface="Hiragino Sans"/>
                <a:cs typeface="Hiragino Sans"/>
              </a:defRPr>
            </a:pPr>
            <a:r>
              <a:rPr sz="1125" b="1">
                <a:solidFill>
                  <a:srgbClr val="1D2733"/>
                </a:solidFill>
                <a:latin typeface="Hiragino Sans"/>
                <a:ea typeface="Hiragino Sans"/>
                <a:cs typeface="Hiragino Sans"/>
              </a:rPr>
              <a:t>OK</a:t>
            </a:r>
          </a:p>
        </p:txBody>
      </p:sp>
      <p:sp>
        <p:nvSpPr>
          <p:cNvPr id="49" name="正方形/長方形 48">
            <a:extLst>
              <a:ext uri="{FF2B5EF4-FFF2-40B4-BE49-F238E27FC236}">
                <a16:creationId xmlns:a16="http://schemas.microsoft.com/office/drawing/2014/main" id="{5DE9CBB5-9429-4BFE-B418-0EE5A4CF80DF}"/>
              </a:ext>
            </a:extLst>
          </p:cNvPr>
          <p:cNvSpPr>
            <a:spLocks noGrp="1"/>
          </p:cNvSpPr>
          <p:nvPr/>
        </p:nvSpPr>
        <p:spPr>
          <a:xfrm>
            <a:off x="819150" y="3105150"/>
            <a:ext cx="457200" cy="495300"/>
          </a:xfrm>
          <a:prstGeom prst="rect">
            <a:avLst/>
          </a:prstGeom>
          <a:solidFill>
            <a:srgbClr val="8BE06B"/>
          </a:solidFill>
          <a:ln w="9525">
            <a:solidFill>
              <a:srgbClr val="1D2733"/>
            </a:solidFill>
            <a:prstDash val="solid"/>
          </a:ln>
        </p:spPr>
        <p:txBody>
          <a:bodyPr/>
          <a:lstStyle/>
          <a:p>
            <a:endParaRPr lang="ja-JP" altLang="en-US"/>
          </a:p>
        </p:txBody>
      </p:sp>
      <p:sp>
        <p:nvSpPr>
          <p:cNvPr id="50" name="正方形/長方形 49">
            <a:extLst>
              <a:ext uri="{FF2B5EF4-FFF2-40B4-BE49-F238E27FC236}">
                <a16:creationId xmlns:a16="http://schemas.microsoft.com/office/drawing/2014/main" id="{6444861F-8C18-40B4-A7B3-84BD3D3A6BAB}"/>
              </a:ext>
            </a:extLst>
          </p:cNvPr>
          <p:cNvSpPr>
            <a:spLocks noGrp="1"/>
          </p:cNvSpPr>
          <p:nvPr/>
        </p:nvSpPr>
        <p:spPr>
          <a:xfrm>
            <a:off x="952500" y="3228975"/>
            <a:ext cx="190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2</a:t>
            </a:r>
          </a:p>
        </p:txBody>
      </p:sp>
      <p:sp>
        <p:nvSpPr>
          <p:cNvPr id="51" name="正方形/長方形 50">
            <a:extLst>
              <a:ext uri="{FF2B5EF4-FFF2-40B4-BE49-F238E27FC236}">
                <a16:creationId xmlns:a16="http://schemas.microsoft.com/office/drawing/2014/main" id="{8AA71FE2-72DA-4CB8-BD8C-B6CAC3CECED4}"/>
              </a:ext>
            </a:extLst>
          </p:cNvPr>
          <p:cNvSpPr>
            <a:spLocks noGrp="1"/>
          </p:cNvSpPr>
          <p:nvPr/>
        </p:nvSpPr>
        <p:spPr>
          <a:xfrm>
            <a:off x="1409700" y="3105150"/>
            <a:ext cx="4000500" cy="495300"/>
          </a:xfrm>
          <a:prstGeom prst="rect">
            <a:avLst/>
          </a:prstGeom>
          <a:solidFill>
            <a:srgbClr val="FFFFFF"/>
          </a:solidFill>
          <a:ln w="9525">
            <a:solidFill>
              <a:srgbClr val="CCD7DF"/>
            </a:solidFill>
            <a:prstDash val="solid"/>
          </a:ln>
        </p:spPr>
        <p:txBody>
          <a:bodyPr/>
          <a:lstStyle/>
          <a:p>
            <a:endParaRPr lang="ja-JP" altLang="en-US"/>
          </a:p>
        </p:txBody>
      </p:sp>
      <p:sp>
        <p:nvSpPr>
          <p:cNvPr id="52" name="正方形/長方形 51">
            <a:extLst>
              <a:ext uri="{FF2B5EF4-FFF2-40B4-BE49-F238E27FC236}">
                <a16:creationId xmlns:a16="http://schemas.microsoft.com/office/drawing/2014/main" id="{42875121-84EC-4DFD-AC50-CE6CAD6E2D0F}"/>
              </a:ext>
            </a:extLst>
          </p:cNvPr>
          <p:cNvSpPr>
            <a:spLocks noGrp="1"/>
          </p:cNvSpPr>
          <p:nvPr/>
        </p:nvSpPr>
        <p:spPr>
          <a:xfrm>
            <a:off x="5410200" y="3105150"/>
            <a:ext cx="4857750" cy="495300"/>
          </a:xfrm>
          <a:prstGeom prst="rect">
            <a:avLst/>
          </a:prstGeom>
          <a:solidFill>
            <a:srgbClr val="FFFFFF"/>
          </a:solidFill>
          <a:ln w="9525">
            <a:solidFill>
              <a:srgbClr val="CCD7DF"/>
            </a:solidFill>
            <a:prstDash val="solid"/>
          </a:ln>
        </p:spPr>
        <p:txBody>
          <a:bodyPr/>
          <a:lstStyle/>
          <a:p>
            <a:endParaRPr lang="ja-JP" altLang="en-US"/>
          </a:p>
        </p:txBody>
      </p:sp>
      <p:sp>
        <p:nvSpPr>
          <p:cNvPr id="53" name="正方形/長方形 52">
            <a:extLst>
              <a:ext uri="{FF2B5EF4-FFF2-40B4-BE49-F238E27FC236}">
                <a16:creationId xmlns:a16="http://schemas.microsoft.com/office/drawing/2014/main" id="{5918D45F-07CB-4078-B4A2-CCBBBC263171}"/>
              </a:ext>
            </a:extLst>
          </p:cNvPr>
          <p:cNvSpPr>
            <a:spLocks noGrp="1"/>
          </p:cNvSpPr>
          <p:nvPr/>
        </p:nvSpPr>
        <p:spPr>
          <a:xfrm>
            <a:off x="10267950" y="3105150"/>
            <a:ext cx="800100" cy="495300"/>
          </a:xfrm>
          <a:prstGeom prst="rect">
            <a:avLst/>
          </a:prstGeom>
          <a:solidFill>
            <a:srgbClr val="E9F8E2"/>
          </a:solidFill>
          <a:ln w="9525">
            <a:solidFill>
              <a:srgbClr val="8BE06B"/>
            </a:solidFill>
            <a:prstDash val="solid"/>
          </a:ln>
        </p:spPr>
        <p:txBody>
          <a:bodyPr/>
          <a:lstStyle/>
          <a:p>
            <a:endParaRPr lang="ja-JP" altLang="en-US"/>
          </a:p>
        </p:txBody>
      </p:sp>
      <p:sp>
        <p:nvSpPr>
          <p:cNvPr id="54" name="正方形/長方形 53">
            <a:extLst>
              <a:ext uri="{FF2B5EF4-FFF2-40B4-BE49-F238E27FC236}">
                <a16:creationId xmlns:a16="http://schemas.microsoft.com/office/drawing/2014/main" id="{D1DE0305-17E0-4FAA-9CA6-3B56ABA1F1CF}"/>
              </a:ext>
            </a:extLst>
          </p:cNvPr>
          <p:cNvSpPr>
            <a:spLocks noGrp="1"/>
          </p:cNvSpPr>
          <p:nvPr/>
        </p:nvSpPr>
        <p:spPr>
          <a:xfrm>
            <a:off x="1562100" y="3219450"/>
            <a:ext cx="3695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deployerだけのfunction</a:t>
            </a:r>
          </a:p>
        </p:txBody>
      </p:sp>
      <p:sp>
        <p:nvSpPr>
          <p:cNvPr id="55" name="正方形/長方形 54">
            <a:extLst>
              <a:ext uri="{FF2B5EF4-FFF2-40B4-BE49-F238E27FC236}">
                <a16:creationId xmlns:a16="http://schemas.microsoft.com/office/drawing/2014/main" id="{422F4095-3E40-436D-AF98-B9BE02BD1FF9}"/>
              </a:ext>
            </a:extLst>
          </p:cNvPr>
          <p:cNvSpPr>
            <a:spLocks noGrp="1"/>
          </p:cNvSpPr>
          <p:nvPr/>
        </p:nvSpPr>
        <p:spPr>
          <a:xfrm>
            <a:off x="5562600" y="3219450"/>
            <a:ext cx="4552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1D2733"/>
                </a:solidFill>
                <a:latin typeface="Hiragino Sans"/>
                <a:ea typeface="Hiragino Sans"/>
                <a:cs typeface="Hiragino Sans"/>
              </a:defRPr>
            </a:pPr>
            <a:r>
              <a:rPr sz="1013" b="0">
                <a:solidFill>
                  <a:srgbClr val="1D2733"/>
                </a:solidFill>
                <a:latin typeface="Hiragino Sans"/>
                <a:ea typeface="Hiragino Sans"/>
                <a:cs typeface="Hiragino Sans"/>
              </a:rPr>
              <a:t>onlyDeployer modifier + getContractBalance</a:t>
            </a:r>
          </a:p>
        </p:txBody>
      </p:sp>
      <p:sp>
        <p:nvSpPr>
          <p:cNvPr id="56" name="正方形/長方形 55">
            <a:extLst>
              <a:ext uri="{FF2B5EF4-FFF2-40B4-BE49-F238E27FC236}">
                <a16:creationId xmlns:a16="http://schemas.microsoft.com/office/drawing/2014/main" id="{744059D9-685F-4425-91BF-0877062E1ACF}"/>
              </a:ext>
            </a:extLst>
          </p:cNvPr>
          <p:cNvSpPr>
            <a:spLocks noGrp="1"/>
          </p:cNvSpPr>
          <p:nvPr/>
        </p:nvSpPr>
        <p:spPr>
          <a:xfrm>
            <a:off x="10496550" y="3228975"/>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2733"/>
                </a:solidFill>
                <a:latin typeface="Hiragino Sans"/>
                <a:ea typeface="Hiragino Sans"/>
                <a:cs typeface="Hiragino Sans"/>
              </a:defRPr>
            </a:pPr>
            <a:r>
              <a:rPr sz="1125" b="1">
                <a:solidFill>
                  <a:srgbClr val="1D2733"/>
                </a:solidFill>
                <a:latin typeface="Hiragino Sans"/>
                <a:ea typeface="Hiragino Sans"/>
                <a:cs typeface="Hiragino Sans"/>
              </a:rPr>
              <a:t>OK</a:t>
            </a:r>
          </a:p>
        </p:txBody>
      </p:sp>
      <p:sp>
        <p:nvSpPr>
          <p:cNvPr id="57" name="正方形/長方形 56">
            <a:extLst>
              <a:ext uri="{FF2B5EF4-FFF2-40B4-BE49-F238E27FC236}">
                <a16:creationId xmlns:a16="http://schemas.microsoft.com/office/drawing/2014/main" id="{31B94F64-7E8E-4955-B360-C09D29EA6799}"/>
              </a:ext>
            </a:extLst>
          </p:cNvPr>
          <p:cNvSpPr>
            <a:spLocks noGrp="1"/>
          </p:cNvSpPr>
          <p:nvPr/>
        </p:nvSpPr>
        <p:spPr>
          <a:xfrm>
            <a:off x="819150" y="3752850"/>
            <a:ext cx="457200" cy="495300"/>
          </a:xfrm>
          <a:prstGeom prst="rect">
            <a:avLst/>
          </a:prstGeom>
          <a:solidFill>
            <a:srgbClr val="FFB454"/>
          </a:solidFill>
          <a:ln w="9525">
            <a:solidFill>
              <a:srgbClr val="1D2733"/>
            </a:solidFill>
            <a:prstDash val="solid"/>
          </a:ln>
        </p:spPr>
        <p:txBody>
          <a:bodyPr/>
          <a:lstStyle/>
          <a:p>
            <a:endParaRPr lang="ja-JP" altLang="en-US"/>
          </a:p>
        </p:txBody>
      </p:sp>
      <p:sp>
        <p:nvSpPr>
          <p:cNvPr id="58" name="正方形/長方形 57">
            <a:extLst>
              <a:ext uri="{FF2B5EF4-FFF2-40B4-BE49-F238E27FC236}">
                <a16:creationId xmlns:a16="http://schemas.microsoft.com/office/drawing/2014/main" id="{3B8A1F16-F835-4F18-8418-EE6AD35E7D0E}"/>
              </a:ext>
            </a:extLst>
          </p:cNvPr>
          <p:cNvSpPr>
            <a:spLocks noGrp="1"/>
          </p:cNvSpPr>
          <p:nvPr/>
        </p:nvSpPr>
        <p:spPr>
          <a:xfrm>
            <a:off x="952500" y="3876675"/>
            <a:ext cx="190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3</a:t>
            </a:r>
          </a:p>
        </p:txBody>
      </p:sp>
      <p:sp>
        <p:nvSpPr>
          <p:cNvPr id="59" name="正方形/長方形 58">
            <a:extLst>
              <a:ext uri="{FF2B5EF4-FFF2-40B4-BE49-F238E27FC236}">
                <a16:creationId xmlns:a16="http://schemas.microsoft.com/office/drawing/2014/main" id="{5E0B9D32-40FB-4D4D-8406-0235EE018EE7}"/>
              </a:ext>
            </a:extLst>
          </p:cNvPr>
          <p:cNvSpPr>
            <a:spLocks noGrp="1"/>
          </p:cNvSpPr>
          <p:nvPr/>
        </p:nvSpPr>
        <p:spPr>
          <a:xfrm>
            <a:off x="1409700" y="3752850"/>
            <a:ext cx="4000500" cy="495300"/>
          </a:xfrm>
          <a:prstGeom prst="rect">
            <a:avLst/>
          </a:prstGeom>
          <a:solidFill>
            <a:srgbClr val="FFFFFF"/>
          </a:solidFill>
          <a:ln w="9525">
            <a:solidFill>
              <a:srgbClr val="CCD7DF"/>
            </a:solidFill>
            <a:prstDash val="solid"/>
          </a:ln>
        </p:spPr>
        <p:txBody>
          <a:bodyPr/>
          <a:lstStyle/>
          <a:p>
            <a:endParaRPr lang="ja-JP" altLang="en-US"/>
          </a:p>
        </p:txBody>
      </p:sp>
      <p:sp>
        <p:nvSpPr>
          <p:cNvPr id="60" name="正方形/長方形 59">
            <a:extLst>
              <a:ext uri="{FF2B5EF4-FFF2-40B4-BE49-F238E27FC236}">
                <a16:creationId xmlns:a16="http://schemas.microsoft.com/office/drawing/2014/main" id="{0F733C1E-E610-4612-9F19-50EE3B7C209C}"/>
              </a:ext>
            </a:extLst>
          </p:cNvPr>
          <p:cNvSpPr>
            <a:spLocks noGrp="1"/>
          </p:cNvSpPr>
          <p:nvPr/>
        </p:nvSpPr>
        <p:spPr>
          <a:xfrm>
            <a:off x="5410200" y="3752850"/>
            <a:ext cx="4857750" cy="495300"/>
          </a:xfrm>
          <a:prstGeom prst="rect">
            <a:avLst/>
          </a:prstGeom>
          <a:solidFill>
            <a:srgbClr val="FFFFFF"/>
          </a:solidFill>
          <a:ln w="9525">
            <a:solidFill>
              <a:srgbClr val="CCD7DF"/>
            </a:solidFill>
            <a:prstDash val="solid"/>
          </a:ln>
        </p:spPr>
        <p:txBody>
          <a:bodyPr/>
          <a:lstStyle/>
          <a:p>
            <a:endParaRPr lang="ja-JP" altLang="en-US"/>
          </a:p>
        </p:txBody>
      </p:sp>
      <p:sp>
        <p:nvSpPr>
          <p:cNvPr id="61" name="正方形/長方形 60">
            <a:extLst>
              <a:ext uri="{FF2B5EF4-FFF2-40B4-BE49-F238E27FC236}">
                <a16:creationId xmlns:a16="http://schemas.microsoft.com/office/drawing/2014/main" id="{A2F4BF29-4723-4C47-95EA-83CF89FEB04F}"/>
              </a:ext>
            </a:extLst>
          </p:cNvPr>
          <p:cNvSpPr>
            <a:spLocks noGrp="1"/>
          </p:cNvSpPr>
          <p:nvPr/>
        </p:nvSpPr>
        <p:spPr>
          <a:xfrm>
            <a:off x="10267950" y="3752850"/>
            <a:ext cx="800100" cy="495300"/>
          </a:xfrm>
          <a:prstGeom prst="rect">
            <a:avLst/>
          </a:prstGeom>
          <a:solidFill>
            <a:srgbClr val="E9F8E2"/>
          </a:solidFill>
          <a:ln w="9525">
            <a:solidFill>
              <a:srgbClr val="8BE06B"/>
            </a:solidFill>
            <a:prstDash val="solid"/>
          </a:ln>
        </p:spPr>
        <p:txBody>
          <a:bodyPr/>
          <a:lstStyle/>
          <a:p>
            <a:endParaRPr lang="ja-JP" altLang="en-US"/>
          </a:p>
        </p:txBody>
      </p:sp>
      <p:sp>
        <p:nvSpPr>
          <p:cNvPr id="62" name="正方形/長方形 61">
            <a:extLst>
              <a:ext uri="{FF2B5EF4-FFF2-40B4-BE49-F238E27FC236}">
                <a16:creationId xmlns:a16="http://schemas.microsoft.com/office/drawing/2014/main" id="{D283E348-5FC5-4FC2-BC26-2AE63E8BFECE}"/>
              </a:ext>
            </a:extLst>
          </p:cNvPr>
          <p:cNvSpPr>
            <a:spLocks noGrp="1"/>
          </p:cNvSpPr>
          <p:nvPr/>
        </p:nvSpPr>
        <p:spPr>
          <a:xfrm>
            <a:off x="1562100" y="3867150"/>
            <a:ext cx="3695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payable function</a:t>
            </a:r>
          </a:p>
        </p:txBody>
      </p:sp>
      <p:sp>
        <p:nvSpPr>
          <p:cNvPr id="63" name="正方形/長方形 62">
            <a:extLst>
              <a:ext uri="{FF2B5EF4-FFF2-40B4-BE49-F238E27FC236}">
                <a16:creationId xmlns:a16="http://schemas.microsoft.com/office/drawing/2014/main" id="{53A4F6EC-59BE-4366-B399-0CA02E357384}"/>
              </a:ext>
            </a:extLst>
          </p:cNvPr>
          <p:cNvSpPr>
            <a:spLocks noGrp="1"/>
          </p:cNvSpPr>
          <p:nvPr/>
        </p:nvSpPr>
        <p:spPr>
          <a:xfrm>
            <a:off x="5562600" y="3867150"/>
            <a:ext cx="4552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1D2733"/>
                </a:solidFill>
                <a:latin typeface="Hiragino Sans"/>
                <a:ea typeface="Hiragino Sans"/>
                <a:cs typeface="Hiragino Sans"/>
              </a:defRPr>
            </a:pPr>
            <a:r>
              <a:rPr sz="1013" b="0">
                <a:solidFill>
                  <a:srgbClr val="1D2733"/>
                </a:solidFill>
                <a:latin typeface="Hiragino Sans"/>
                <a:ea typeface="Hiragino Sans"/>
                <a:cs typeface="Hiragino Sans"/>
              </a:rPr>
              <a:t>upgradeControl / Speed / Accel</a:t>
            </a:r>
          </a:p>
        </p:txBody>
      </p:sp>
      <p:sp>
        <p:nvSpPr>
          <p:cNvPr id="64" name="正方形/長方形 63">
            <a:extLst>
              <a:ext uri="{FF2B5EF4-FFF2-40B4-BE49-F238E27FC236}">
                <a16:creationId xmlns:a16="http://schemas.microsoft.com/office/drawing/2014/main" id="{D23488AE-0905-4645-B90B-DB178407BBF6}"/>
              </a:ext>
            </a:extLst>
          </p:cNvPr>
          <p:cNvSpPr>
            <a:spLocks noGrp="1"/>
          </p:cNvSpPr>
          <p:nvPr/>
        </p:nvSpPr>
        <p:spPr>
          <a:xfrm>
            <a:off x="10496550" y="3876675"/>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2733"/>
                </a:solidFill>
                <a:latin typeface="Hiragino Sans"/>
                <a:ea typeface="Hiragino Sans"/>
                <a:cs typeface="Hiragino Sans"/>
              </a:defRPr>
            </a:pPr>
            <a:r>
              <a:rPr sz="1125" b="1">
                <a:solidFill>
                  <a:srgbClr val="1D2733"/>
                </a:solidFill>
                <a:latin typeface="Hiragino Sans"/>
                <a:ea typeface="Hiragino Sans"/>
                <a:cs typeface="Hiragino Sans"/>
              </a:rPr>
              <a:t>OK</a:t>
            </a:r>
          </a:p>
        </p:txBody>
      </p:sp>
      <p:sp>
        <p:nvSpPr>
          <p:cNvPr id="65" name="正方形/長方形 64">
            <a:extLst>
              <a:ext uri="{FF2B5EF4-FFF2-40B4-BE49-F238E27FC236}">
                <a16:creationId xmlns:a16="http://schemas.microsoft.com/office/drawing/2014/main" id="{AF12C032-4898-4AD0-B3C2-5BCCEF757645}"/>
              </a:ext>
            </a:extLst>
          </p:cNvPr>
          <p:cNvSpPr>
            <a:spLocks noGrp="1"/>
          </p:cNvSpPr>
          <p:nvPr/>
        </p:nvSpPr>
        <p:spPr>
          <a:xfrm>
            <a:off x="819150" y="4400550"/>
            <a:ext cx="457200" cy="495300"/>
          </a:xfrm>
          <a:prstGeom prst="rect">
            <a:avLst/>
          </a:prstGeom>
          <a:solidFill>
            <a:srgbClr val="FFE37A"/>
          </a:solidFill>
          <a:ln w="9525">
            <a:solidFill>
              <a:srgbClr val="1D2733"/>
            </a:solidFill>
            <a:prstDash val="solid"/>
          </a:ln>
        </p:spPr>
        <p:txBody>
          <a:bodyPr/>
          <a:lstStyle/>
          <a:p>
            <a:endParaRPr lang="ja-JP" altLang="en-US"/>
          </a:p>
        </p:txBody>
      </p:sp>
      <p:sp>
        <p:nvSpPr>
          <p:cNvPr id="66" name="正方形/長方形 65">
            <a:extLst>
              <a:ext uri="{FF2B5EF4-FFF2-40B4-BE49-F238E27FC236}">
                <a16:creationId xmlns:a16="http://schemas.microsoft.com/office/drawing/2014/main" id="{44B6C0B7-4C74-447E-A6D9-F492BEFDB567}"/>
              </a:ext>
            </a:extLst>
          </p:cNvPr>
          <p:cNvSpPr>
            <a:spLocks noGrp="1"/>
          </p:cNvSpPr>
          <p:nvPr/>
        </p:nvSpPr>
        <p:spPr>
          <a:xfrm>
            <a:off x="952500" y="4524375"/>
            <a:ext cx="190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4</a:t>
            </a:r>
          </a:p>
        </p:txBody>
      </p:sp>
      <p:sp>
        <p:nvSpPr>
          <p:cNvPr id="67" name="正方形/長方形 66">
            <a:extLst>
              <a:ext uri="{FF2B5EF4-FFF2-40B4-BE49-F238E27FC236}">
                <a16:creationId xmlns:a16="http://schemas.microsoft.com/office/drawing/2014/main" id="{9748379B-E7CF-441F-9B2C-FEF4009BE6DB}"/>
              </a:ext>
            </a:extLst>
          </p:cNvPr>
          <p:cNvSpPr>
            <a:spLocks noGrp="1"/>
          </p:cNvSpPr>
          <p:nvPr/>
        </p:nvSpPr>
        <p:spPr>
          <a:xfrm>
            <a:off x="1409700" y="4400550"/>
            <a:ext cx="4000500" cy="495300"/>
          </a:xfrm>
          <a:prstGeom prst="rect">
            <a:avLst/>
          </a:prstGeom>
          <a:solidFill>
            <a:srgbClr val="FFFFFF"/>
          </a:solidFill>
          <a:ln w="9525">
            <a:solidFill>
              <a:srgbClr val="CCD7DF"/>
            </a:solidFill>
            <a:prstDash val="solid"/>
          </a:ln>
        </p:spPr>
        <p:txBody>
          <a:bodyPr/>
          <a:lstStyle/>
          <a:p>
            <a:endParaRPr lang="ja-JP" altLang="en-US"/>
          </a:p>
        </p:txBody>
      </p:sp>
      <p:sp>
        <p:nvSpPr>
          <p:cNvPr id="68" name="正方形/長方形 67">
            <a:extLst>
              <a:ext uri="{FF2B5EF4-FFF2-40B4-BE49-F238E27FC236}">
                <a16:creationId xmlns:a16="http://schemas.microsoft.com/office/drawing/2014/main" id="{DAC9F621-FE78-435F-9E16-D162AAAEDDCF}"/>
              </a:ext>
            </a:extLst>
          </p:cNvPr>
          <p:cNvSpPr>
            <a:spLocks noGrp="1"/>
          </p:cNvSpPr>
          <p:nvPr/>
        </p:nvSpPr>
        <p:spPr>
          <a:xfrm>
            <a:off x="5410200" y="4400550"/>
            <a:ext cx="4857750" cy="495300"/>
          </a:xfrm>
          <a:prstGeom prst="rect">
            <a:avLst/>
          </a:prstGeom>
          <a:solidFill>
            <a:srgbClr val="FFFFFF"/>
          </a:solidFill>
          <a:ln w="9525">
            <a:solidFill>
              <a:srgbClr val="CCD7DF"/>
            </a:solidFill>
            <a:prstDash val="solid"/>
          </a:ln>
        </p:spPr>
        <p:txBody>
          <a:bodyPr/>
          <a:lstStyle/>
          <a:p>
            <a:endParaRPr lang="ja-JP" altLang="en-US"/>
          </a:p>
        </p:txBody>
      </p:sp>
      <p:sp>
        <p:nvSpPr>
          <p:cNvPr id="69" name="正方形/長方形 68">
            <a:extLst>
              <a:ext uri="{FF2B5EF4-FFF2-40B4-BE49-F238E27FC236}">
                <a16:creationId xmlns:a16="http://schemas.microsoft.com/office/drawing/2014/main" id="{727C3E37-699F-48A6-9744-D702A3D469D7}"/>
              </a:ext>
            </a:extLst>
          </p:cNvPr>
          <p:cNvSpPr>
            <a:spLocks noGrp="1"/>
          </p:cNvSpPr>
          <p:nvPr/>
        </p:nvSpPr>
        <p:spPr>
          <a:xfrm>
            <a:off x="10267950" y="4400550"/>
            <a:ext cx="800100" cy="495300"/>
          </a:xfrm>
          <a:prstGeom prst="rect">
            <a:avLst/>
          </a:prstGeom>
          <a:solidFill>
            <a:srgbClr val="E9F8E2"/>
          </a:solidFill>
          <a:ln w="9525">
            <a:solidFill>
              <a:srgbClr val="8BE06B"/>
            </a:solidFill>
            <a:prstDash val="solid"/>
          </a:ln>
        </p:spPr>
        <p:txBody>
          <a:bodyPr/>
          <a:lstStyle/>
          <a:p>
            <a:endParaRPr lang="ja-JP" altLang="en-US"/>
          </a:p>
        </p:txBody>
      </p:sp>
      <p:sp>
        <p:nvSpPr>
          <p:cNvPr id="70" name="正方形/長方形 69">
            <a:extLst>
              <a:ext uri="{FF2B5EF4-FFF2-40B4-BE49-F238E27FC236}">
                <a16:creationId xmlns:a16="http://schemas.microsoft.com/office/drawing/2014/main" id="{ACD1261E-BD31-40DC-8EAD-483702EDE8AE}"/>
              </a:ext>
            </a:extLst>
          </p:cNvPr>
          <p:cNvSpPr>
            <a:spLocks noGrp="1"/>
          </p:cNvSpPr>
          <p:nvPr/>
        </p:nvSpPr>
        <p:spPr>
          <a:xfrm>
            <a:off x="1562100" y="4514850"/>
            <a:ext cx="3695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Eventで記録</a:t>
            </a:r>
          </a:p>
        </p:txBody>
      </p:sp>
      <p:sp>
        <p:nvSpPr>
          <p:cNvPr id="71" name="正方形/長方形 70">
            <a:extLst>
              <a:ext uri="{FF2B5EF4-FFF2-40B4-BE49-F238E27FC236}">
                <a16:creationId xmlns:a16="http://schemas.microsoft.com/office/drawing/2014/main" id="{567BB1BD-BC16-4179-AED4-72E8923F6B6D}"/>
              </a:ext>
            </a:extLst>
          </p:cNvPr>
          <p:cNvSpPr>
            <a:spLocks noGrp="1"/>
          </p:cNvSpPr>
          <p:nvPr/>
        </p:nvSpPr>
        <p:spPr>
          <a:xfrm>
            <a:off x="5562600" y="4514850"/>
            <a:ext cx="4552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1D2733"/>
                </a:solidFill>
                <a:latin typeface="Hiragino Sans"/>
                <a:ea typeface="Hiragino Sans"/>
                <a:cs typeface="Hiragino Sans"/>
              </a:defRPr>
            </a:pPr>
            <a:r>
              <a:rPr sz="1013" b="0">
                <a:solidFill>
                  <a:srgbClr val="1D2733"/>
                </a:solidFill>
                <a:latin typeface="Hiragino Sans"/>
                <a:ea typeface="Hiragino Sans"/>
                <a:cs typeface="Hiragino Sans"/>
              </a:rPr>
              <a:t>CarUpgraded / RaceResultRecorded</a:t>
            </a:r>
          </a:p>
        </p:txBody>
      </p:sp>
      <p:sp>
        <p:nvSpPr>
          <p:cNvPr id="72" name="正方形/長方形 71">
            <a:extLst>
              <a:ext uri="{FF2B5EF4-FFF2-40B4-BE49-F238E27FC236}">
                <a16:creationId xmlns:a16="http://schemas.microsoft.com/office/drawing/2014/main" id="{F5D345DD-6FD4-461B-9925-A05A296A109A}"/>
              </a:ext>
            </a:extLst>
          </p:cNvPr>
          <p:cNvSpPr>
            <a:spLocks noGrp="1"/>
          </p:cNvSpPr>
          <p:nvPr/>
        </p:nvSpPr>
        <p:spPr>
          <a:xfrm>
            <a:off x="10496550" y="4524375"/>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2733"/>
                </a:solidFill>
                <a:latin typeface="Hiragino Sans"/>
                <a:ea typeface="Hiragino Sans"/>
                <a:cs typeface="Hiragino Sans"/>
              </a:defRPr>
            </a:pPr>
            <a:r>
              <a:rPr sz="1125" b="1">
                <a:solidFill>
                  <a:srgbClr val="1D2733"/>
                </a:solidFill>
                <a:latin typeface="Hiragino Sans"/>
                <a:ea typeface="Hiragino Sans"/>
                <a:cs typeface="Hiragino Sans"/>
              </a:rPr>
              <a:t>OK</a:t>
            </a:r>
          </a:p>
        </p:txBody>
      </p:sp>
      <p:sp>
        <p:nvSpPr>
          <p:cNvPr id="73" name="正方形/長方形 72">
            <a:extLst>
              <a:ext uri="{FF2B5EF4-FFF2-40B4-BE49-F238E27FC236}">
                <a16:creationId xmlns:a16="http://schemas.microsoft.com/office/drawing/2014/main" id="{B3E3AD45-8DF7-47CA-88FA-8CD47E9FBC42}"/>
              </a:ext>
            </a:extLst>
          </p:cNvPr>
          <p:cNvSpPr>
            <a:spLocks noGrp="1"/>
          </p:cNvSpPr>
          <p:nvPr/>
        </p:nvSpPr>
        <p:spPr>
          <a:xfrm>
            <a:off x="819150" y="5048250"/>
            <a:ext cx="457200" cy="495300"/>
          </a:xfrm>
          <a:prstGeom prst="rect">
            <a:avLst/>
          </a:prstGeom>
          <a:solidFill>
            <a:srgbClr val="2F80ED"/>
          </a:solidFill>
          <a:ln w="9525">
            <a:solidFill>
              <a:srgbClr val="1D2733"/>
            </a:solidFill>
            <a:prstDash val="solid"/>
          </a:ln>
        </p:spPr>
        <p:txBody>
          <a:bodyPr/>
          <a:lstStyle/>
          <a:p>
            <a:endParaRPr lang="ja-JP" altLang="en-US"/>
          </a:p>
        </p:txBody>
      </p:sp>
      <p:sp>
        <p:nvSpPr>
          <p:cNvPr id="74" name="正方形/長方形 73">
            <a:extLst>
              <a:ext uri="{FF2B5EF4-FFF2-40B4-BE49-F238E27FC236}">
                <a16:creationId xmlns:a16="http://schemas.microsoft.com/office/drawing/2014/main" id="{A4DFC8A7-3673-45C9-9821-62E17329E4B8}"/>
              </a:ext>
            </a:extLst>
          </p:cNvPr>
          <p:cNvSpPr>
            <a:spLocks noGrp="1"/>
          </p:cNvSpPr>
          <p:nvPr/>
        </p:nvSpPr>
        <p:spPr>
          <a:xfrm>
            <a:off x="952500" y="5172075"/>
            <a:ext cx="190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5</a:t>
            </a:r>
          </a:p>
        </p:txBody>
      </p:sp>
      <p:sp>
        <p:nvSpPr>
          <p:cNvPr id="75" name="正方形/長方形 74">
            <a:extLst>
              <a:ext uri="{FF2B5EF4-FFF2-40B4-BE49-F238E27FC236}">
                <a16:creationId xmlns:a16="http://schemas.microsoft.com/office/drawing/2014/main" id="{70B3BA8A-33A9-42A6-A14B-F477A0A954BB}"/>
              </a:ext>
            </a:extLst>
          </p:cNvPr>
          <p:cNvSpPr>
            <a:spLocks noGrp="1"/>
          </p:cNvSpPr>
          <p:nvPr/>
        </p:nvSpPr>
        <p:spPr>
          <a:xfrm>
            <a:off x="1409700" y="5048250"/>
            <a:ext cx="4000500" cy="495300"/>
          </a:xfrm>
          <a:prstGeom prst="rect">
            <a:avLst/>
          </a:prstGeom>
          <a:solidFill>
            <a:srgbClr val="FFFFFF"/>
          </a:solidFill>
          <a:ln w="9525">
            <a:solidFill>
              <a:srgbClr val="CCD7DF"/>
            </a:solidFill>
            <a:prstDash val="solid"/>
          </a:ln>
        </p:spPr>
        <p:txBody>
          <a:bodyPr/>
          <a:lstStyle/>
          <a:p>
            <a:endParaRPr lang="ja-JP" altLang="en-US"/>
          </a:p>
        </p:txBody>
      </p:sp>
      <p:sp>
        <p:nvSpPr>
          <p:cNvPr id="76" name="正方形/長方形 75">
            <a:extLst>
              <a:ext uri="{FF2B5EF4-FFF2-40B4-BE49-F238E27FC236}">
                <a16:creationId xmlns:a16="http://schemas.microsoft.com/office/drawing/2014/main" id="{7734A0F7-5CC1-4613-86BE-91545431B81D}"/>
              </a:ext>
            </a:extLst>
          </p:cNvPr>
          <p:cNvSpPr>
            <a:spLocks noGrp="1"/>
          </p:cNvSpPr>
          <p:nvPr/>
        </p:nvSpPr>
        <p:spPr>
          <a:xfrm>
            <a:off x="5410200" y="5048250"/>
            <a:ext cx="4857750" cy="495300"/>
          </a:xfrm>
          <a:prstGeom prst="rect">
            <a:avLst/>
          </a:prstGeom>
          <a:solidFill>
            <a:srgbClr val="FFFFFF"/>
          </a:solidFill>
          <a:ln w="9525">
            <a:solidFill>
              <a:srgbClr val="CCD7DF"/>
            </a:solidFill>
            <a:prstDash val="solid"/>
          </a:ln>
        </p:spPr>
        <p:txBody>
          <a:bodyPr/>
          <a:lstStyle/>
          <a:p>
            <a:endParaRPr lang="ja-JP" altLang="en-US"/>
          </a:p>
        </p:txBody>
      </p:sp>
      <p:sp>
        <p:nvSpPr>
          <p:cNvPr id="77" name="正方形/長方形 76">
            <a:extLst>
              <a:ext uri="{FF2B5EF4-FFF2-40B4-BE49-F238E27FC236}">
                <a16:creationId xmlns:a16="http://schemas.microsoft.com/office/drawing/2014/main" id="{726788D7-0899-4746-9C35-89B96C2B3AC7}"/>
              </a:ext>
            </a:extLst>
          </p:cNvPr>
          <p:cNvSpPr>
            <a:spLocks noGrp="1"/>
          </p:cNvSpPr>
          <p:nvPr/>
        </p:nvSpPr>
        <p:spPr>
          <a:xfrm>
            <a:off x="10267950" y="5048250"/>
            <a:ext cx="800100" cy="495300"/>
          </a:xfrm>
          <a:prstGeom prst="rect">
            <a:avLst/>
          </a:prstGeom>
          <a:solidFill>
            <a:srgbClr val="E9F8E2"/>
          </a:solidFill>
          <a:ln w="9525">
            <a:solidFill>
              <a:srgbClr val="8BE06B"/>
            </a:solidFill>
            <a:prstDash val="solid"/>
          </a:ln>
        </p:spPr>
        <p:txBody>
          <a:bodyPr/>
          <a:lstStyle/>
          <a:p>
            <a:endParaRPr lang="ja-JP" altLang="en-US"/>
          </a:p>
        </p:txBody>
      </p:sp>
      <p:sp>
        <p:nvSpPr>
          <p:cNvPr id="78" name="正方形/長方形 77">
            <a:extLst>
              <a:ext uri="{FF2B5EF4-FFF2-40B4-BE49-F238E27FC236}">
                <a16:creationId xmlns:a16="http://schemas.microsoft.com/office/drawing/2014/main" id="{B972DB67-918D-40C0-9496-A009BE9A569A}"/>
              </a:ext>
            </a:extLst>
          </p:cNvPr>
          <p:cNvSpPr>
            <a:spLocks noGrp="1"/>
          </p:cNvSpPr>
          <p:nvPr/>
        </p:nvSpPr>
        <p:spPr>
          <a:xfrm>
            <a:off x="1562100" y="5162550"/>
            <a:ext cx="3695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Sepoliaにデプロイ</a:t>
            </a:r>
          </a:p>
        </p:txBody>
      </p:sp>
      <p:sp>
        <p:nvSpPr>
          <p:cNvPr id="79" name="正方形/長方形 78">
            <a:extLst>
              <a:ext uri="{FF2B5EF4-FFF2-40B4-BE49-F238E27FC236}">
                <a16:creationId xmlns:a16="http://schemas.microsoft.com/office/drawing/2014/main" id="{47962201-DFCD-4133-837B-99397D53AB5B}"/>
              </a:ext>
            </a:extLst>
          </p:cNvPr>
          <p:cNvSpPr>
            <a:spLocks noGrp="1"/>
          </p:cNvSpPr>
          <p:nvPr/>
        </p:nvSpPr>
        <p:spPr>
          <a:xfrm>
            <a:off x="5562600" y="5162550"/>
            <a:ext cx="45529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1D2733"/>
                </a:solidFill>
                <a:latin typeface="Hiragino Sans"/>
                <a:ea typeface="Hiragino Sans"/>
                <a:cs typeface="Hiragino Sans"/>
              </a:defRPr>
            </a:pPr>
            <a:r>
              <a:rPr sz="1013" b="0">
                <a:solidFill>
                  <a:srgbClr val="1D2733"/>
                </a:solidFill>
                <a:latin typeface="Hiragino Sans"/>
                <a:ea typeface="Hiragino Sans"/>
                <a:cs typeface="Hiragino Sans"/>
              </a:rPr>
              <a:t>Contract addressを取得済み</a:t>
            </a:r>
          </a:p>
        </p:txBody>
      </p:sp>
      <p:sp>
        <p:nvSpPr>
          <p:cNvPr id="80" name="正方形/長方形 79">
            <a:extLst>
              <a:ext uri="{FF2B5EF4-FFF2-40B4-BE49-F238E27FC236}">
                <a16:creationId xmlns:a16="http://schemas.microsoft.com/office/drawing/2014/main" id="{0588148B-8EC4-4A9C-8A3A-6595EB57A89D}"/>
              </a:ext>
            </a:extLst>
          </p:cNvPr>
          <p:cNvSpPr>
            <a:spLocks noGrp="1"/>
          </p:cNvSpPr>
          <p:nvPr/>
        </p:nvSpPr>
        <p:spPr>
          <a:xfrm>
            <a:off x="10496550" y="5172075"/>
            <a:ext cx="3429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125" b="1">
                <a:solidFill>
                  <a:srgbClr val="1D2733"/>
                </a:solidFill>
                <a:latin typeface="Hiragino Sans"/>
                <a:ea typeface="Hiragino Sans"/>
                <a:cs typeface="Hiragino Sans"/>
              </a:defRPr>
            </a:pPr>
            <a:r>
              <a:rPr sz="1125" b="1">
                <a:solidFill>
                  <a:srgbClr val="1D2733"/>
                </a:solidFill>
                <a:latin typeface="Hiragino Sans"/>
                <a:ea typeface="Hiragino Sans"/>
                <a:cs typeface="Hiragino Sans"/>
              </a:rPr>
              <a:t>OK</a:t>
            </a:r>
          </a:p>
        </p:txBody>
      </p:sp>
      <p:sp>
        <p:nvSpPr>
          <p:cNvPr id="81" name="正方形/長方形 80">
            <a:extLst>
              <a:ext uri="{FF2B5EF4-FFF2-40B4-BE49-F238E27FC236}">
                <a16:creationId xmlns:a16="http://schemas.microsoft.com/office/drawing/2014/main" id="{1FA66411-241F-473D-9263-F1357B9BD550}"/>
              </a:ext>
            </a:extLst>
          </p:cNvPr>
          <p:cNvSpPr>
            <a:spLocks noGrp="1"/>
          </p:cNvSpPr>
          <p:nvPr/>
        </p:nvSpPr>
        <p:spPr>
          <a:xfrm>
            <a:off x="838200" y="5886450"/>
            <a:ext cx="7239000" cy="400050"/>
          </a:xfrm>
          <a:prstGeom prst="rect">
            <a:avLst/>
          </a:prstGeom>
          <a:solidFill>
            <a:srgbClr val="FFF6CE"/>
          </a:solidFill>
          <a:ln w="9525">
            <a:solidFill>
              <a:srgbClr val="FFB454"/>
            </a:solidFill>
            <a:prstDash val="solid"/>
          </a:ln>
        </p:spPr>
        <p:txBody>
          <a:bodyPr/>
          <a:lstStyle/>
          <a:p>
            <a:endParaRPr lang="ja-JP" altLang="en-US"/>
          </a:p>
        </p:txBody>
      </p:sp>
      <p:sp>
        <p:nvSpPr>
          <p:cNvPr id="82" name="正方形/長方形 81">
            <a:extLst>
              <a:ext uri="{FF2B5EF4-FFF2-40B4-BE49-F238E27FC236}">
                <a16:creationId xmlns:a16="http://schemas.microsoft.com/office/drawing/2014/main" id="{CAB05FD1-3A10-4DC3-B313-41C122AF6347}"/>
              </a:ext>
            </a:extLst>
          </p:cNvPr>
          <p:cNvSpPr>
            <a:spLocks noGrp="1"/>
          </p:cNvSpPr>
          <p:nvPr/>
        </p:nvSpPr>
        <p:spPr>
          <a:xfrm>
            <a:off x="1028700" y="6000750"/>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Hiragino Sans"/>
                <a:ea typeface="Hiragino Sans"/>
                <a:cs typeface="Hiragino Sans"/>
              </a:defRPr>
            </a:pPr>
            <a:r>
              <a:rPr sz="1013" b="1">
                <a:solidFill>
                  <a:srgbClr val="1D2733"/>
                </a:solidFill>
                <a:latin typeface="Hiragino Sans"/>
                <a:ea typeface="Hiragino Sans"/>
                <a:cs typeface="Hiragino Sans"/>
              </a:rPr>
              <a:t>先生のポケモン例と同じように「無料作成」「有料強化」「Event記録」をレース車で実装しました。</a:t>
            </a:r>
          </a:p>
        </p:txBody>
      </p:sp>
      <p:sp>
        <p:nvSpPr>
          <p:cNvPr id="83" name="正方形/長方形 82">
            <a:extLst>
              <a:ext uri="{FF2B5EF4-FFF2-40B4-BE49-F238E27FC236}">
                <a16:creationId xmlns:a16="http://schemas.microsoft.com/office/drawing/2014/main" id="{DDC241B7-2FF1-4C58-8517-BB7AC312824E}"/>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homework requirements / RaceForgeCampaign.sol</a:t>
            </a:r>
          </a:p>
        </p:txBody>
      </p:sp>
      <p:sp>
        <p:nvSpPr>
          <p:cNvPr id="84" name="正方形/長方形 83">
            <a:extLst>
              <a:ext uri="{FF2B5EF4-FFF2-40B4-BE49-F238E27FC236}">
                <a16:creationId xmlns:a16="http://schemas.microsoft.com/office/drawing/2014/main" id="{2845D515-AE50-48BE-8171-F57B765EC2B9}"/>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02</a:t>
            </a:r>
          </a:p>
        </p:txBody>
      </p:sp>
    </p:spTree>
    <p:extLst>
      <p:ext uri="{BB962C8B-B14F-4D97-AF65-F5344CB8AC3E}">
        <p14:creationId xmlns:p14="http://schemas.microsoft.com/office/powerpoint/2010/main" val="1305159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正方形/長方形 51">
            <a:extLst>
              <a:ext uri="{FF2B5EF4-FFF2-40B4-BE49-F238E27FC236}">
                <a16:creationId xmlns:a16="http://schemas.microsoft.com/office/drawing/2014/main" id="{8B86D146-0E95-4303-8119-AC4BE460823C}"/>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0B22503B-2A14-472A-A781-35C0194E4353}"/>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4412D0ED-4D61-4D35-9B4F-3AB680A545E1}"/>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0481F746-5614-4535-B8CA-B90D74FF7590}"/>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CB68CDA9-27BA-4EBD-BB91-DF7BE5699757}"/>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30715232-6283-4C4E-824A-48B54AA40567}"/>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3955DF64-8103-4493-91D9-B76DF1D8B591}"/>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C815503A-9538-48EE-8439-AC22420A37FC}"/>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C240F6A9-F7BC-4699-84F7-B105B1D022A1}"/>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92349CBA-9D46-47C3-ABB0-0206B357C7BB}"/>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EA3D622D-C931-4133-8363-31CA46362BB2}"/>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9A3A19E7-4572-4762-B68F-D7A03B645F9D}"/>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5CC2F154-E818-4F7C-A586-C9443DC9C54F}"/>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AAA178C6-BA5E-430E-AA4B-9296A597ABD4}"/>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ACDBD84E-3D7B-452E-9EFD-FCFE5FE079D6}"/>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FB5C33FD-1A14-4E91-A9EE-E4F3DBD86929}"/>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B0E9ED0-6CC9-4262-9CCC-E660348E5C47}"/>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C3DF1764-A0D5-4985-9EB1-33C71B563415}"/>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3873DB95-52CD-4164-A6CC-9CA12B744D45}"/>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D922B505-814F-4880-9DDC-ACC35E57C224}"/>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41BB55E5-2F57-4779-9704-88CD5F5E9EA9}"/>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CE430449-2F53-4EB8-8395-1A96C1C05BD6}"/>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B4C6F1C4-348F-45F5-9F71-C6D92D4CE4BD}"/>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478CF0A6-4BAF-4A65-9185-24EFA9606C4E}"/>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825E5A25-2F9A-41EF-8DB1-BC331BAC6E1D}"/>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AD417462-3540-42EA-979D-53FBBC2F054F}"/>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F80EBB5A-1B2D-4E9E-B116-DE54B1086776}"/>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AADAF483-3A07-4731-8F36-BE003C3A3ABE}"/>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8A1283AC-35A0-4F83-ACE3-F23258191B70}"/>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C97C10A4-FF6B-4D2E-99BE-5B374B0DC636}"/>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FF7E1D06-7426-48E8-B1FC-BF1FE4EAC895}"/>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0F5A034A-7F25-46B1-8FD9-EC6910C2B90E}"/>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27D35C2E-CC0F-4678-B307-571ED54B5C95}"/>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89890DF5-F695-44E7-8B6B-FC0716094EB1}"/>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37DCEE53-3087-4E92-A599-20E898302A66}"/>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テーマ: ポケモン例をレース車に置き換えた</a:t>
            </a:r>
          </a:p>
        </p:txBody>
      </p:sp>
      <p:sp>
        <p:nvSpPr>
          <p:cNvPr id="36" name="正方形/長方形 35">
            <a:extLst>
              <a:ext uri="{FF2B5EF4-FFF2-40B4-BE49-F238E27FC236}">
                <a16:creationId xmlns:a16="http://schemas.microsoft.com/office/drawing/2014/main" id="{4491B4D1-B842-4E54-B7A6-ADF4A8FD4A85}"/>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難しい別テーマではなく、課題例と同じ構造にしました。</a:t>
            </a:r>
          </a:p>
        </p:txBody>
      </p:sp>
      <p:sp>
        <p:nvSpPr>
          <p:cNvPr id="37" name="正方形/長方形 36">
            <a:extLst>
              <a:ext uri="{FF2B5EF4-FFF2-40B4-BE49-F238E27FC236}">
                <a16:creationId xmlns:a16="http://schemas.microsoft.com/office/drawing/2014/main" id="{384925A9-0110-4256-B0BF-A611EDD2E1EE}"/>
              </a:ext>
            </a:extLst>
          </p:cNvPr>
          <p:cNvSpPr>
            <a:spLocks noGrp="1"/>
          </p:cNvSpPr>
          <p:nvPr/>
        </p:nvSpPr>
        <p:spPr>
          <a:xfrm>
            <a:off x="1047750" y="1981200"/>
            <a:ext cx="1428750" cy="304800"/>
          </a:xfrm>
          <a:prstGeom prst="rect">
            <a:avLst/>
          </a:prstGeom>
          <a:solidFill>
            <a:srgbClr val="FFE37A"/>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818844F9-9749-4B1E-82AD-1C4B111470B5}"/>
              </a:ext>
            </a:extLst>
          </p:cNvPr>
          <p:cNvSpPr>
            <a:spLocks noGrp="1"/>
          </p:cNvSpPr>
          <p:nvPr/>
        </p:nvSpPr>
        <p:spPr>
          <a:xfrm>
            <a:off x="1143000" y="2047875"/>
            <a:ext cx="1238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err="1">
                <a:solidFill>
                  <a:srgbClr val="1D2733"/>
                </a:solidFill>
                <a:latin typeface="Avenir Next"/>
                <a:ea typeface="Avenir Next"/>
                <a:cs typeface="Avenir Next"/>
              </a:rPr>
              <a:t>先生の例</a:t>
            </a:r>
            <a:endParaRPr sz="825" b="1" dirty="0">
              <a:solidFill>
                <a:srgbClr val="1D2733"/>
              </a:solidFill>
              <a:latin typeface="Avenir Next"/>
              <a:ea typeface="Avenir Next"/>
              <a:cs typeface="Avenir Next"/>
            </a:endParaRPr>
          </a:p>
        </p:txBody>
      </p:sp>
      <p:sp>
        <p:nvSpPr>
          <p:cNvPr id="39" name="正方形/長方形 38">
            <a:extLst>
              <a:ext uri="{FF2B5EF4-FFF2-40B4-BE49-F238E27FC236}">
                <a16:creationId xmlns:a16="http://schemas.microsoft.com/office/drawing/2014/main" id="{1C56D071-8FC5-40E0-AACD-5CBB43BC8EA3}"/>
              </a:ext>
            </a:extLst>
          </p:cNvPr>
          <p:cNvSpPr>
            <a:spLocks noGrp="1"/>
          </p:cNvSpPr>
          <p:nvPr/>
        </p:nvSpPr>
        <p:spPr>
          <a:xfrm>
            <a:off x="6762750" y="1981200"/>
            <a:ext cx="1619250" cy="304800"/>
          </a:xfrm>
          <a:prstGeom prst="rect">
            <a:avLst/>
          </a:prstGeom>
          <a:solidFill>
            <a:srgbClr val="8BE06B"/>
          </a:solidFill>
          <a:ln w="11430">
            <a:solidFill>
              <a:srgbClr val="1D2733"/>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9C1453EA-E0A1-4EB9-A727-73DB2F7618F4}"/>
              </a:ext>
            </a:extLst>
          </p:cNvPr>
          <p:cNvSpPr>
            <a:spLocks noGrp="1"/>
          </p:cNvSpPr>
          <p:nvPr/>
        </p:nvSpPr>
        <p:spPr>
          <a:xfrm>
            <a:off x="6858000" y="20478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err="1">
                <a:solidFill>
                  <a:srgbClr val="1D2733"/>
                </a:solidFill>
                <a:latin typeface="Avenir Next"/>
                <a:ea typeface="Avenir Next"/>
                <a:cs typeface="Avenir Next"/>
              </a:rPr>
              <a:t>今回のテ</a:t>
            </a:r>
            <a:r>
              <a:rPr sz="825" b="1" dirty="0" err="1">
                <a:solidFill>
                  <a:srgbClr val="1D2733"/>
                </a:solidFill>
                <a:latin typeface="Avenir Next"/>
                <a:ea typeface="Avenir Next"/>
                <a:cs typeface="Avenir Next"/>
              </a:rPr>
              <a:t>ーマ</a:t>
            </a:r>
            <a:endParaRPr sz="825" b="1" dirty="0">
              <a:solidFill>
                <a:srgbClr val="1D2733"/>
              </a:solidFill>
              <a:latin typeface="Avenir Next"/>
              <a:ea typeface="Avenir Next"/>
              <a:cs typeface="Avenir Next"/>
            </a:endParaRPr>
          </a:p>
        </p:txBody>
      </p:sp>
      <p:sp>
        <p:nvSpPr>
          <p:cNvPr id="41" name="正方形/長方形 40">
            <a:extLst>
              <a:ext uri="{FF2B5EF4-FFF2-40B4-BE49-F238E27FC236}">
                <a16:creationId xmlns:a16="http://schemas.microsoft.com/office/drawing/2014/main" id="{6D972857-67BD-47AF-B687-0F6B62E78A75}"/>
              </a:ext>
            </a:extLst>
          </p:cNvPr>
          <p:cNvSpPr>
            <a:spLocks noGrp="1"/>
          </p:cNvSpPr>
          <p:nvPr/>
        </p:nvSpPr>
        <p:spPr>
          <a:xfrm>
            <a:off x="914400" y="2476500"/>
            <a:ext cx="4095750" cy="2095500"/>
          </a:xfrm>
          <a:prstGeom prst="rect">
            <a:avLst/>
          </a:prstGeom>
          <a:solidFill>
            <a:srgbClr val="FFFFFF"/>
          </a:solidFill>
          <a:ln w="19050">
            <a:solidFill>
              <a:srgbClr val="FFB454"/>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E66C65CD-838E-468E-8059-8EE9A4B666B2}"/>
              </a:ext>
            </a:extLst>
          </p:cNvPr>
          <p:cNvSpPr>
            <a:spLocks noGrp="1"/>
          </p:cNvSpPr>
          <p:nvPr/>
        </p:nvSpPr>
        <p:spPr>
          <a:xfrm>
            <a:off x="1085850" y="2628900"/>
            <a:ext cx="37528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シンプルなポケモン</a:t>
            </a:r>
          </a:p>
        </p:txBody>
      </p:sp>
      <p:sp>
        <p:nvSpPr>
          <p:cNvPr id="43" name="正方形/長方形 42">
            <a:extLst>
              <a:ext uri="{FF2B5EF4-FFF2-40B4-BE49-F238E27FC236}">
                <a16:creationId xmlns:a16="http://schemas.microsoft.com/office/drawing/2014/main" id="{FE8A64B3-5B00-41AB-A1DC-567CBEFF0ACD}"/>
              </a:ext>
            </a:extLst>
          </p:cNvPr>
          <p:cNvSpPr>
            <a:spLocks noGrp="1"/>
          </p:cNvSpPr>
          <p:nvPr/>
        </p:nvSpPr>
        <p:spPr>
          <a:xfrm>
            <a:off x="1085850" y="2952750"/>
            <a:ext cx="375285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名前</a:t>
            </a:r>
            <a:r>
              <a:rPr sz="1600" b="0" dirty="0">
                <a:solidFill>
                  <a:srgbClr val="667788"/>
                </a:solidFill>
                <a:latin typeface="Hiragino Sans"/>
                <a:ea typeface="Hiragino Sans"/>
                <a:cs typeface="Hiragino Sans"/>
              </a:rPr>
              <a:t> / </a:t>
            </a:r>
            <a:r>
              <a:rPr sz="1600" b="0" dirty="0" err="1">
                <a:solidFill>
                  <a:srgbClr val="667788"/>
                </a:solidFill>
                <a:latin typeface="Hiragino Sans"/>
                <a:ea typeface="Hiragino Sans"/>
                <a:cs typeface="Hiragino Sans"/>
              </a:rPr>
              <a:t>攻撃力</a:t>
            </a:r>
            <a:r>
              <a:rPr sz="1600" b="0" dirty="0">
                <a:solidFill>
                  <a:srgbClr val="667788"/>
                </a:solidFill>
                <a:latin typeface="Hiragino Sans"/>
                <a:ea typeface="Hiragino Sans"/>
                <a:cs typeface="Hiragino Sans"/>
              </a:rPr>
              <a:t> / </a:t>
            </a:r>
            <a:r>
              <a:rPr sz="1600" b="0" dirty="0" err="1">
                <a:solidFill>
                  <a:srgbClr val="667788"/>
                </a:solidFill>
                <a:latin typeface="Hiragino Sans"/>
                <a:ea typeface="Hiragino Sans"/>
                <a:cs typeface="Hiragino Sans"/>
              </a:rPr>
              <a:t>防御力</a:t>
            </a:r>
            <a:endParaRPr sz="1600" b="0" dirty="0">
              <a:solidFill>
                <a:srgbClr val="667788"/>
              </a:solidFill>
              <a:latin typeface="Hiragino Sans"/>
              <a:ea typeface="Hiragino Sans"/>
              <a:cs typeface="Hiragino Sans"/>
            </a:endParaRPr>
          </a:p>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無料</a:t>
            </a:r>
            <a:r>
              <a:rPr sz="1600" b="0" dirty="0">
                <a:solidFill>
                  <a:srgbClr val="667788"/>
                </a:solidFill>
                <a:latin typeface="Hiragino Sans"/>
                <a:ea typeface="Hiragino Sans"/>
                <a:cs typeface="Hiragino Sans"/>
              </a:rPr>
              <a:t>: </a:t>
            </a:r>
            <a:r>
              <a:rPr sz="1600" b="0" dirty="0" err="1">
                <a:solidFill>
                  <a:srgbClr val="667788"/>
                </a:solidFill>
                <a:latin typeface="Hiragino Sans"/>
                <a:ea typeface="Hiragino Sans"/>
                <a:cs typeface="Hiragino Sans"/>
              </a:rPr>
              <a:t>ポケモン作成</a:t>
            </a:r>
            <a:endParaRPr sz="1600" b="0" dirty="0">
              <a:solidFill>
                <a:srgbClr val="667788"/>
              </a:solidFill>
              <a:latin typeface="Hiragino Sans"/>
              <a:ea typeface="Hiragino Sans"/>
              <a:cs typeface="Hiragino Sans"/>
            </a:endParaRPr>
          </a:p>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有料</a:t>
            </a:r>
            <a:r>
              <a:rPr sz="1600" b="0" dirty="0">
                <a:solidFill>
                  <a:srgbClr val="667788"/>
                </a:solidFill>
                <a:latin typeface="Hiragino Sans"/>
                <a:ea typeface="Hiragino Sans"/>
                <a:cs typeface="Hiragino Sans"/>
              </a:rPr>
              <a:t>: </a:t>
            </a:r>
            <a:r>
              <a:rPr sz="1600" b="0" dirty="0" err="1">
                <a:solidFill>
                  <a:srgbClr val="667788"/>
                </a:solidFill>
                <a:latin typeface="Hiragino Sans"/>
                <a:ea typeface="Hiragino Sans"/>
                <a:cs typeface="Hiragino Sans"/>
              </a:rPr>
              <a:t>攻撃力・防御力アップ</a:t>
            </a:r>
            <a:endParaRPr sz="1600" b="0" dirty="0">
              <a:solidFill>
                <a:srgbClr val="667788"/>
              </a:solidFill>
              <a:latin typeface="Hiragino Sans"/>
              <a:ea typeface="Hiragino Sans"/>
              <a:cs typeface="Hiragino Sans"/>
            </a:endParaRPr>
          </a:p>
          <a:p>
            <a:pPr algn="l">
              <a:defRPr sz="1013" b="0">
                <a:solidFill>
                  <a:srgbClr val="667788"/>
                </a:solidFill>
                <a:latin typeface="Hiragino Sans"/>
                <a:ea typeface="Hiragino Sans"/>
                <a:cs typeface="Hiragino Sans"/>
              </a:defRPr>
            </a:pPr>
            <a:r>
              <a:rPr sz="1600" b="0" dirty="0">
                <a:solidFill>
                  <a:srgbClr val="667788"/>
                </a:solidFill>
                <a:latin typeface="Hiragino Sans"/>
                <a:ea typeface="Hiragino Sans"/>
                <a:cs typeface="Hiragino Sans"/>
              </a:rPr>
              <a:t>Event: </a:t>
            </a:r>
            <a:r>
              <a:rPr sz="1600" b="0" dirty="0" err="1">
                <a:solidFill>
                  <a:srgbClr val="667788"/>
                </a:solidFill>
                <a:latin typeface="Hiragino Sans"/>
                <a:ea typeface="Hiragino Sans"/>
                <a:cs typeface="Hiragino Sans"/>
              </a:rPr>
              <a:t>強化した操作を記録</a:t>
            </a:r>
            <a:endParaRPr sz="1600" b="0" dirty="0">
              <a:solidFill>
                <a:srgbClr val="667788"/>
              </a:solidFill>
              <a:latin typeface="Hiragino Sans"/>
              <a:ea typeface="Hiragino Sans"/>
              <a:cs typeface="Hiragino Sans"/>
            </a:endParaRPr>
          </a:p>
        </p:txBody>
      </p:sp>
      <p:sp>
        <p:nvSpPr>
          <p:cNvPr id="44" name="正方形/長方形 43">
            <a:extLst>
              <a:ext uri="{FF2B5EF4-FFF2-40B4-BE49-F238E27FC236}">
                <a16:creationId xmlns:a16="http://schemas.microsoft.com/office/drawing/2014/main" id="{E6A93C20-513A-49AE-B571-93F1E4C3C0A4}"/>
              </a:ext>
            </a:extLst>
          </p:cNvPr>
          <p:cNvSpPr>
            <a:spLocks noGrp="1"/>
          </p:cNvSpPr>
          <p:nvPr/>
        </p:nvSpPr>
        <p:spPr>
          <a:xfrm>
            <a:off x="6572250" y="2476500"/>
            <a:ext cx="4095750" cy="2095500"/>
          </a:xfrm>
          <a:prstGeom prst="rect">
            <a:avLst/>
          </a:prstGeom>
          <a:solidFill>
            <a:srgbClr val="FFFFFF"/>
          </a:solidFill>
          <a:ln w="19050">
            <a:solidFill>
              <a:srgbClr val="2F80ED"/>
            </a:solidFill>
            <a:prstDash val="solid"/>
          </a:ln>
        </p:spPr>
        <p:txBody>
          <a:bodyPr/>
          <a:lstStyle/>
          <a:p>
            <a:endParaRPr lang="ja-JP" altLang="en-US"/>
          </a:p>
        </p:txBody>
      </p:sp>
      <p:sp>
        <p:nvSpPr>
          <p:cNvPr id="45" name="正方形/長方形 44">
            <a:extLst>
              <a:ext uri="{FF2B5EF4-FFF2-40B4-BE49-F238E27FC236}">
                <a16:creationId xmlns:a16="http://schemas.microsoft.com/office/drawing/2014/main" id="{7B78C593-CD23-4510-AD2A-FB33858FCEE4}"/>
              </a:ext>
            </a:extLst>
          </p:cNvPr>
          <p:cNvSpPr>
            <a:spLocks noGrp="1"/>
          </p:cNvSpPr>
          <p:nvPr/>
        </p:nvSpPr>
        <p:spPr>
          <a:xfrm>
            <a:off x="6743700" y="2628900"/>
            <a:ext cx="37528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RaceForgeCampaign</a:t>
            </a:r>
          </a:p>
        </p:txBody>
      </p:sp>
      <p:sp>
        <p:nvSpPr>
          <p:cNvPr id="46" name="正方形/長方形 45">
            <a:extLst>
              <a:ext uri="{FF2B5EF4-FFF2-40B4-BE49-F238E27FC236}">
                <a16:creationId xmlns:a16="http://schemas.microsoft.com/office/drawing/2014/main" id="{609452EB-AF01-45D8-8DB9-8BA4CA5E5900}"/>
              </a:ext>
            </a:extLst>
          </p:cNvPr>
          <p:cNvSpPr>
            <a:spLocks noGrp="1"/>
          </p:cNvSpPr>
          <p:nvPr/>
        </p:nvSpPr>
        <p:spPr>
          <a:xfrm>
            <a:off x="6743700" y="2952750"/>
            <a:ext cx="375285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名前</a:t>
            </a:r>
            <a:r>
              <a:rPr sz="1600" b="0" dirty="0">
                <a:solidFill>
                  <a:srgbClr val="667788"/>
                </a:solidFill>
                <a:latin typeface="Hiragino Sans"/>
                <a:ea typeface="Hiragino Sans"/>
                <a:cs typeface="Hiragino Sans"/>
              </a:rPr>
              <a:t> / </a:t>
            </a:r>
            <a:r>
              <a:rPr sz="1600" b="0" dirty="0" err="1">
                <a:solidFill>
                  <a:srgbClr val="667788"/>
                </a:solidFill>
                <a:latin typeface="Hiragino Sans"/>
                <a:ea typeface="Hiragino Sans"/>
                <a:cs typeface="Hiragino Sans"/>
              </a:rPr>
              <a:t>カーブ制御</a:t>
            </a:r>
            <a:r>
              <a:rPr sz="1600" b="0" dirty="0">
                <a:solidFill>
                  <a:srgbClr val="667788"/>
                </a:solidFill>
                <a:latin typeface="Hiragino Sans"/>
                <a:ea typeface="Hiragino Sans"/>
                <a:cs typeface="Hiragino Sans"/>
              </a:rPr>
              <a:t> / </a:t>
            </a:r>
            <a:r>
              <a:rPr sz="1600" b="0" dirty="0" err="1">
                <a:solidFill>
                  <a:srgbClr val="667788"/>
                </a:solidFill>
                <a:latin typeface="Hiragino Sans"/>
                <a:ea typeface="Hiragino Sans"/>
                <a:cs typeface="Hiragino Sans"/>
              </a:rPr>
              <a:t>速度</a:t>
            </a:r>
            <a:r>
              <a:rPr sz="1600" b="0" dirty="0">
                <a:solidFill>
                  <a:srgbClr val="667788"/>
                </a:solidFill>
                <a:latin typeface="Hiragino Sans"/>
                <a:ea typeface="Hiragino Sans"/>
                <a:cs typeface="Hiragino Sans"/>
              </a:rPr>
              <a:t> / </a:t>
            </a:r>
            <a:r>
              <a:rPr sz="1600" b="0" dirty="0" err="1">
                <a:solidFill>
                  <a:srgbClr val="667788"/>
                </a:solidFill>
                <a:latin typeface="Hiragino Sans"/>
                <a:ea typeface="Hiragino Sans"/>
                <a:cs typeface="Hiragino Sans"/>
              </a:rPr>
              <a:t>加速度</a:t>
            </a:r>
            <a:endParaRPr sz="1600" b="0" dirty="0">
              <a:solidFill>
                <a:srgbClr val="667788"/>
              </a:solidFill>
              <a:latin typeface="Hiragino Sans"/>
              <a:ea typeface="Hiragino Sans"/>
              <a:cs typeface="Hiragino Sans"/>
            </a:endParaRPr>
          </a:p>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無料</a:t>
            </a:r>
            <a:r>
              <a:rPr sz="1600" b="0" dirty="0">
                <a:solidFill>
                  <a:srgbClr val="667788"/>
                </a:solidFill>
                <a:latin typeface="Hiragino Sans"/>
                <a:ea typeface="Hiragino Sans"/>
                <a:cs typeface="Hiragino Sans"/>
              </a:rPr>
              <a:t>: </a:t>
            </a:r>
            <a:r>
              <a:rPr sz="1600" b="0" dirty="0" err="1">
                <a:solidFill>
                  <a:srgbClr val="667788"/>
                </a:solidFill>
                <a:latin typeface="Hiragino Sans"/>
                <a:ea typeface="Hiragino Sans"/>
                <a:cs typeface="Hiragino Sans"/>
              </a:rPr>
              <a:t>レース車作成</a:t>
            </a:r>
            <a:endParaRPr sz="1600" b="0" dirty="0">
              <a:solidFill>
                <a:srgbClr val="667788"/>
              </a:solidFill>
              <a:latin typeface="Hiragino Sans"/>
              <a:ea typeface="Hiragino Sans"/>
              <a:cs typeface="Hiragino Sans"/>
            </a:endParaRPr>
          </a:p>
          <a:p>
            <a:pPr algn="l">
              <a:defRPr sz="1013" b="0">
                <a:solidFill>
                  <a:srgbClr val="667788"/>
                </a:solidFill>
                <a:latin typeface="Hiragino Sans"/>
                <a:ea typeface="Hiragino Sans"/>
                <a:cs typeface="Hiragino Sans"/>
              </a:defRPr>
            </a:pPr>
            <a:r>
              <a:rPr sz="1600" b="0" dirty="0" err="1">
                <a:solidFill>
                  <a:srgbClr val="667788"/>
                </a:solidFill>
                <a:latin typeface="Hiragino Sans"/>
                <a:ea typeface="Hiragino Sans"/>
                <a:cs typeface="Hiragino Sans"/>
              </a:rPr>
              <a:t>有料</a:t>
            </a:r>
            <a:r>
              <a:rPr sz="1600" b="0" dirty="0">
                <a:solidFill>
                  <a:srgbClr val="667788"/>
                </a:solidFill>
                <a:latin typeface="Hiragino Sans"/>
                <a:ea typeface="Hiragino Sans"/>
                <a:cs typeface="Hiragino Sans"/>
              </a:rPr>
              <a:t>: 0.003 ETHで1段階強化</a:t>
            </a:r>
          </a:p>
          <a:p>
            <a:pPr algn="l">
              <a:defRPr sz="1013" b="0">
                <a:solidFill>
                  <a:srgbClr val="667788"/>
                </a:solidFill>
                <a:latin typeface="Hiragino Sans"/>
                <a:ea typeface="Hiragino Sans"/>
                <a:cs typeface="Hiragino Sans"/>
              </a:defRPr>
            </a:pPr>
            <a:r>
              <a:rPr sz="1600" b="0" dirty="0">
                <a:solidFill>
                  <a:srgbClr val="667788"/>
                </a:solidFill>
                <a:latin typeface="Hiragino Sans"/>
                <a:ea typeface="Hiragino Sans"/>
                <a:cs typeface="Hiragino Sans"/>
              </a:rPr>
              <a:t>Event: </a:t>
            </a:r>
            <a:r>
              <a:rPr sz="1600" b="0" dirty="0" err="1">
                <a:solidFill>
                  <a:srgbClr val="667788"/>
                </a:solidFill>
                <a:latin typeface="Hiragino Sans"/>
                <a:ea typeface="Hiragino Sans"/>
                <a:cs typeface="Hiragino Sans"/>
              </a:rPr>
              <a:t>強化とレース結果を記録</a:t>
            </a:r>
            <a:endParaRPr sz="1600" b="0" dirty="0">
              <a:solidFill>
                <a:srgbClr val="667788"/>
              </a:solidFill>
              <a:latin typeface="Hiragino Sans"/>
              <a:ea typeface="Hiragino Sans"/>
              <a:cs typeface="Hiragino Sans"/>
            </a:endParaRPr>
          </a:p>
        </p:txBody>
      </p:sp>
      <p:sp>
        <p:nvSpPr>
          <p:cNvPr id="50" name="正方形/長方形 49">
            <a:extLst>
              <a:ext uri="{FF2B5EF4-FFF2-40B4-BE49-F238E27FC236}">
                <a16:creationId xmlns:a16="http://schemas.microsoft.com/office/drawing/2014/main" id="{61B09822-BFC6-4A38-A31D-4CD5842E9075}"/>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assignment theme example / RaceForgeCampaign.sol</a:t>
            </a:r>
          </a:p>
        </p:txBody>
      </p:sp>
      <p:sp>
        <p:nvSpPr>
          <p:cNvPr id="51" name="正方形/長方形 50">
            <a:extLst>
              <a:ext uri="{FF2B5EF4-FFF2-40B4-BE49-F238E27FC236}">
                <a16:creationId xmlns:a16="http://schemas.microsoft.com/office/drawing/2014/main" id="{1A7802F5-26B6-4421-BFCC-36B527A07D32}"/>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03</a:t>
            </a:r>
          </a:p>
        </p:txBody>
      </p:sp>
      <p:pic>
        <p:nvPicPr>
          <p:cNvPr id="54" name="グラフィックス 53" descr="矢印: 直線 単色塗りつぶし">
            <a:extLst>
              <a:ext uri="{FF2B5EF4-FFF2-40B4-BE49-F238E27FC236}">
                <a16:creationId xmlns:a16="http://schemas.microsoft.com/office/drawing/2014/main" id="{61C415AC-F86A-574A-0C81-A11C4201F7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5343525" y="3081338"/>
            <a:ext cx="914400" cy="914400"/>
          </a:xfrm>
          <a:prstGeom prst="rect">
            <a:avLst/>
          </a:prstGeom>
        </p:spPr>
      </p:pic>
    </p:spTree>
    <p:extLst>
      <p:ext uri="{BB962C8B-B14F-4D97-AF65-F5344CB8AC3E}">
        <p14:creationId xmlns:p14="http://schemas.microsoft.com/office/powerpoint/2010/main" val="1528482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721B3A03-6E08-4BA6-AEC0-F7B6F9B113E2}"/>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9741E51E-60CD-4486-B5DF-59FA578F68A7}"/>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1D2AC44A-4863-415B-B5CD-E64D281DDF37}"/>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FAFDD4DF-0740-46B9-A93B-4E79665767FF}"/>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057546E-9F4F-4154-B670-BC045246D5E5}"/>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CD47DF6A-DB7D-43C3-A943-F3943422D2DC}"/>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BAACDBAE-16AF-4DF4-8338-01965AB2379D}"/>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C38CC18D-1C4F-4D40-AFDC-C57DAF7044F4}"/>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5A40F245-3505-4BAC-AC08-CB1653611E9C}"/>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4F5EC8A0-2848-429C-A2B0-058036B64E7F}"/>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199A59F0-6484-43D4-A25A-D954B795F179}"/>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601C9515-38EC-48EB-87B1-271438690C28}"/>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5A321D58-F52C-4528-A54F-6B4EB6D2DBD0}"/>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F983DFFB-CD93-49CF-A187-3B8BBCD7FA84}"/>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8CA26FDC-1DF7-46A5-9302-B1ED781C3B57}"/>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4A2A97D3-C843-46D3-BB78-6A93D16ABF94}"/>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7FE4BB7D-4130-4075-BA81-4B46A20C1FD1}"/>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E0713141-4748-45DB-8B60-84AE129324EC}"/>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E17F11E2-202D-4F8E-9D11-A17391B2A302}"/>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C55322F8-4885-452E-8388-3BEF33BD5182}"/>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2C194534-0BAF-4571-AC69-A1E1CADF9C1F}"/>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CAC6A254-E0B9-437D-8E95-E7925B5250F0}"/>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980B1B36-7C69-454F-A6F0-F2B1227D0947}"/>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4E738A00-9F5C-4F6B-A4AD-DC22CCBE56C8}"/>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F8A2D57A-321A-43F0-B0F1-9753F2A33374}"/>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50F249F1-5F22-4B73-B2F3-C6C8B3579319}"/>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C0FD285B-F950-473C-9D79-4B8748774E26}"/>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6B61823E-C2A2-4FD6-89B6-A10CE29F43A5}"/>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0E1CACE3-D2F3-4B2E-9872-103C3213B4E2}"/>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0853E42F-5198-46B9-B26A-3B1BA95C5AFD}"/>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967D263B-96D5-4F3E-9BE7-44B023CE9522}"/>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AEFB611D-6D20-426C-B1F7-DA460C4D5540}"/>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E507CBF3-7705-4665-822E-59B98C50A3E8}"/>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50AD43D2-813F-4BB0-8E7F-0F584455465B}"/>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058BA9B7-E2C6-4802-8B94-077B2F8048B7}"/>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要件1: external function</a:t>
            </a:r>
          </a:p>
        </p:txBody>
      </p:sp>
      <p:sp>
        <p:nvSpPr>
          <p:cNvPr id="36" name="正方形/長方形 35">
            <a:extLst>
              <a:ext uri="{FF2B5EF4-FFF2-40B4-BE49-F238E27FC236}">
                <a16:creationId xmlns:a16="http://schemas.microsoft.com/office/drawing/2014/main" id="{8C123427-4535-459F-BDEE-ADFA862C8553}"/>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外部から呼び出す入口を作る要件です。</a:t>
            </a:r>
          </a:p>
        </p:txBody>
      </p:sp>
      <p:sp>
        <p:nvSpPr>
          <p:cNvPr id="37" name="正方形/長方形 36">
            <a:extLst>
              <a:ext uri="{FF2B5EF4-FFF2-40B4-BE49-F238E27FC236}">
                <a16:creationId xmlns:a16="http://schemas.microsoft.com/office/drawing/2014/main" id="{A0E3C458-A3F1-4F07-B92A-C185264B53F9}"/>
              </a:ext>
            </a:extLst>
          </p:cNvPr>
          <p:cNvSpPr>
            <a:spLocks noGrp="1"/>
          </p:cNvSpPr>
          <p:nvPr/>
        </p:nvSpPr>
        <p:spPr>
          <a:xfrm>
            <a:off x="780184" y="1724025"/>
            <a:ext cx="1047750" cy="304800"/>
          </a:xfrm>
          <a:prstGeom prst="rect">
            <a:avLst/>
          </a:prstGeom>
          <a:solidFill>
            <a:srgbClr val="37C6D0"/>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B3A10BBE-C300-4639-896D-06822EDF7E3F}"/>
              </a:ext>
            </a:extLst>
          </p:cNvPr>
          <p:cNvSpPr>
            <a:spLocks noGrp="1"/>
          </p:cNvSpPr>
          <p:nvPr/>
        </p:nvSpPr>
        <p:spPr>
          <a:xfrm>
            <a:off x="875434" y="1790700"/>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a:solidFill>
                  <a:srgbClr val="1D2733"/>
                </a:solidFill>
                <a:latin typeface="Avenir Next"/>
                <a:ea typeface="Avenir Next"/>
                <a:cs typeface="Avenir Next"/>
              </a:rPr>
              <a:t>要件</a:t>
            </a:r>
            <a:r>
              <a:rPr sz="825" b="1" dirty="0">
                <a:solidFill>
                  <a:srgbClr val="1D2733"/>
                </a:solidFill>
                <a:latin typeface="Avenir Next"/>
                <a:ea typeface="Avenir Next"/>
                <a:cs typeface="Avenir Next"/>
              </a:rPr>
              <a:t>1</a:t>
            </a:r>
          </a:p>
        </p:txBody>
      </p:sp>
      <p:sp>
        <p:nvSpPr>
          <p:cNvPr id="39" name="正方形/長方形 38">
            <a:extLst>
              <a:ext uri="{FF2B5EF4-FFF2-40B4-BE49-F238E27FC236}">
                <a16:creationId xmlns:a16="http://schemas.microsoft.com/office/drawing/2014/main" id="{B2394E7C-9363-4072-A8A1-62A897F7A5A5}"/>
              </a:ext>
            </a:extLst>
          </p:cNvPr>
          <p:cNvSpPr>
            <a:spLocks noGrp="1"/>
          </p:cNvSpPr>
          <p:nvPr/>
        </p:nvSpPr>
        <p:spPr>
          <a:xfrm>
            <a:off x="781050" y="2190750"/>
            <a:ext cx="6572250" cy="3619500"/>
          </a:xfrm>
          <a:prstGeom prst="rect">
            <a:avLst/>
          </a:prstGeom>
          <a:solidFill>
            <a:srgbClr val="17202C"/>
          </a:solidFill>
          <a:ln w="11430">
            <a:solidFill>
              <a:srgbClr val="2E3B4A"/>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D9B15D80-D970-4D0D-B7DC-D9459A7E2641}"/>
              </a:ext>
            </a:extLst>
          </p:cNvPr>
          <p:cNvSpPr>
            <a:spLocks noGrp="1"/>
          </p:cNvSpPr>
          <p:nvPr/>
        </p:nvSpPr>
        <p:spPr>
          <a:xfrm>
            <a:off x="952500" y="2362200"/>
            <a:ext cx="6229350" cy="3295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15" b="0">
                <a:solidFill>
                  <a:srgbClr val="FFFFFF"/>
                </a:solidFill>
                <a:latin typeface="Menlo"/>
                <a:ea typeface="Menlo"/>
                <a:cs typeface="Menlo"/>
              </a:defRPr>
            </a:pPr>
            <a:r>
              <a:rPr sz="915" b="0">
                <a:solidFill>
                  <a:srgbClr val="FFFFFF"/>
                </a:solidFill>
                <a:latin typeface="Menlo"/>
                <a:ea typeface="Menlo"/>
                <a:cs typeface="Menlo"/>
              </a:rPr>
              <a:t>// Requirement 1: external function.</a:t>
            </a:r>
          </a:p>
          <a:p>
            <a:pPr algn="l">
              <a:defRPr sz="915" b="0">
                <a:solidFill>
                  <a:srgbClr val="FFFFFF"/>
                </a:solidFill>
                <a:latin typeface="Menlo"/>
                <a:ea typeface="Menlo"/>
                <a:cs typeface="Menlo"/>
              </a:defRPr>
            </a:pPr>
            <a:r>
              <a:rPr sz="915" b="0">
                <a:solidFill>
                  <a:srgbClr val="FFFFFF"/>
                </a:solidFill>
                <a:latin typeface="Menlo"/>
                <a:ea typeface="Menlo"/>
                <a:cs typeface="Menlo"/>
              </a:rPr>
              <a:t>// Free action: users can create a race car.</a:t>
            </a:r>
          </a:p>
          <a:p>
            <a:pPr algn="l">
              <a:defRPr sz="915" b="0">
                <a:solidFill>
                  <a:srgbClr val="FFFFFF"/>
                </a:solidFill>
                <a:latin typeface="Menlo"/>
                <a:ea typeface="Menlo"/>
                <a:cs typeface="Menlo"/>
              </a:defRPr>
            </a:pPr>
            <a:r>
              <a:rPr sz="915" b="0">
                <a:solidFill>
                  <a:srgbClr val="FFFFFF"/>
                </a:solidFill>
                <a:latin typeface="Menlo"/>
                <a:ea typeface="Menlo"/>
                <a:cs typeface="Menlo"/>
              </a:rPr>
              <a:t>function createCar(string calldata name)</a:t>
            </a:r>
          </a:p>
          <a:p>
            <a:pPr algn="l">
              <a:defRPr sz="915" b="0">
                <a:solidFill>
                  <a:srgbClr val="FFFFFF"/>
                </a:solidFill>
                <a:latin typeface="Menlo"/>
                <a:ea typeface="Menlo"/>
                <a:cs typeface="Menlo"/>
              </a:defRPr>
            </a:pPr>
            <a:r>
              <a:rPr sz="915" b="0">
                <a:solidFill>
                  <a:srgbClr val="FFFFFF"/>
                </a:solidFill>
                <a:latin typeface="Menlo"/>
                <a:ea typeface="Menlo"/>
                <a:cs typeface="Menlo"/>
              </a:rPr>
              <a:t>    external</a:t>
            </a:r>
          </a:p>
          <a:p>
            <a:pPr algn="l">
              <a:defRPr sz="915" b="0">
                <a:solidFill>
                  <a:srgbClr val="FFFFFF"/>
                </a:solidFill>
                <a:latin typeface="Menlo"/>
                <a:ea typeface="Menlo"/>
                <a:cs typeface="Menlo"/>
              </a:defRPr>
            </a:pPr>
            <a:r>
              <a:rPr sz="915" b="0">
                <a:solidFill>
                  <a:srgbClr val="FFFFFF"/>
                </a:solidFill>
                <a:latin typeface="Menlo"/>
                <a:ea typeface="Menlo"/>
                <a:cs typeface="Menlo"/>
              </a:rPr>
              <a:t>    returns (uint256 carId)</a:t>
            </a:r>
          </a:p>
          <a:p>
            <a:pPr algn="l">
              <a:defRPr sz="915" b="0">
                <a:solidFill>
                  <a:srgbClr val="FFFFFF"/>
                </a:solidFill>
                <a:latin typeface="Menlo"/>
                <a:ea typeface="Menlo"/>
                <a:cs typeface="Menlo"/>
              </a:defRPr>
            </a:pPr>
            <a:r>
              <a:rPr sz="915" b="0">
                <a:solidFill>
                  <a:srgbClr val="FFFFFF"/>
                </a:solidFill>
                <a:latin typeface="Menlo"/>
                <a:ea typeface="Menlo"/>
                <a:cs typeface="Menlo"/>
              </a:rPr>
              <a:t>{</a:t>
            </a:r>
          </a:p>
          <a:p>
            <a:pPr algn="l">
              <a:defRPr sz="915" b="0">
                <a:solidFill>
                  <a:srgbClr val="FFFFFF"/>
                </a:solidFill>
                <a:latin typeface="Menlo"/>
                <a:ea typeface="Menlo"/>
                <a:cs typeface="Menlo"/>
              </a:defRPr>
            </a:pPr>
            <a:r>
              <a:rPr sz="915" b="0">
                <a:solidFill>
                  <a:srgbClr val="FFFFFF"/>
                </a:solidFill>
                <a:latin typeface="Menlo"/>
                <a:ea typeface="Menlo"/>
                <a:cs typeface="Menlo"/>
              </a:rPr>
              <a:t>    carId = _createCar(msg.sender, name);</a:t>
            </a:r>
          </a:p>
          <a:p>
            <a:pPr algn="l">
              <a:defRPr sz="915" b="0">
                <a:solidFill>
                  <a:srgbClr val="FFFFFF"/>
                </a:solidFill>
                <a:latin typeface="Menlo"/>
                <a:ea typeface="Menlo"/>
                <a:cs typeface="Menlo"/>
              </a:defRPr>
            </a:pPr>
            <a:r>
              <a:rPr sz="915" b="0">
                <a:solidFill>
                  <a:srgbClr val="FFFFFF"/>
                </a:solidFill>
                <a:latin typeface="Menlo"/>
                <a:ea typeface="Menlo"/>
                <a:cs typeface="Menlo"/>
              </a:rPr>
              <a:t>}</a:t>
            </a:r>
          </a:p>
          <a:p>
            <a:endParaRPr sz="915" b="0">
              <a:solidFill>
                <a:srgbClr val="FFFFFF"/>
              </a:solidFill>
              <a:latin typeface="Menlo"/>
              <a:ea typeface="Menlo"/>
              <a:cs typeface="Menlo"/>
            </a:endParaRPr>
          </a:p>
          <a:p>
            <a:pPr algn="l">
              <a:defRPr sz="915" b="0">
                <a:solidFill>
                  <a:srgbClr val="FFFFFF"/>
                </a:solidFill>
                <a:latin typeface="Menlo"/>
                <a:ea typeface="Menlo"/>
                <a:cs typeface="Menlo"/>
              </a:defRPr>
            </a:pPr>
            <a:r>
              <a:rPr sz="915" b="0">
                <a:solidFill>
                  <a:srgbClr val="FFFFFF"/>
                </a:solidFill>
                <a:latin typeface="Menlo"/>
                <a:ea typeface="Menlo"/>
                <a:cs typeface="Menlo"/>
              </a:rPr>
              <a:t>// Records the result of one race.</a:t>
            </a:r>
          </a:p>
          <a:p>
            <a:pPr algn="l">
              <a:defRPr sz="915" b="0">
                <a:solidFill>
                  <a:srgbClr val="FFFFFF"/>
                </a:solidFill>
                <a:latin typeface="Menlo"/>
                <a:ea typeface="Menlo"/>
                <a:cs typeface="Menlo"/>
              </a:defRPr>
            </a:pPr>
            <a:r>
              <a:rPr sz="915" b="0">
                <a:solidFill>
                  <a:srgbClr val="FFFFFF"/>
                </a:solidFill>
                <a:latin typeface="Menlo"/>
                <a:ea typeface="Menlo"/>
                <a:cs typeface="Menlo"/>
              </a:rPr>
              <a:t>function recordRaceResult(</a:t>
            </a:r>
          </a:p>
          <a:p>
            <a:pPr algn="l">
              <a:defRPr sz="915" b="0">
                <a:solidFill>
                  <a:srgbClr val="FFFFFF"/>
                </a:solidFill>
                <a:latin typeface="Menlo"/>
                <a:ea typeface="Menlo"/>
                <a:cs typeface="Menlo"/>
              </a:defRPr>
            </a:pPr>
            <a:r>
              <a:rPr sz="915" b="0">
                <a:solidFill>
                  <a:srgbClr val="FFFFFF"/>
                </a:solidFill>
                <a:latin typeface="Menlo"/>
                <a:ea typeface="Menlo"/>
                <a:cs typeface="Menlo"/>
              </a:rPr>
              <a:t>    uint256 carId,</a:t>
            </a:r>
          </a:p>
          <a:p>
            <a:pPr algn="l">
              <a:defRPr sz="915" b="0">
                <a:solidFill>
                  <a:srgbClr val="FFFFFF"/>
                </a:solidFill>
                <a:latin typeface="Menlo"/>
                <a:ea typeface="Menlo"/>
                <a:cs typeface="Menlo"/>
              </a:defRPr>
            </a:pPr>
            <a:r>
              <a:rPr sz="915" b="0">
                <a:solidFill>
                  <a:srgbClr val="FFFFFF"/>
                </a:solidFill>
                <a:latin typeface="Menlo"/>
                <a:ea typeface="Menlo"/>
                <a:cs typeface="Menlo"/>
              </a:rPr>
              <a:t>    uint256 day,</a:t>
            </a:r>
          </a:p>
          <a:p>
            <a:pPr algn="l">
              <a:defRPr sz="915" b="0">
                <a:solidFill>
                  <a:srgbClr val="FFFFFF"/>
                </a:solidFill>
                <a:latin typeface="Menlo"/>
                <a:ea typeface="Menlo"/>
                <a:cs typeface="Menlo"/>
              </a:defRPr>
            </a:pPr>
            <a:r>
              <a:rPr sz="915" b="0">
                <a:solidFill>
                  <a:srgbClr val="FFFFFF"/>
                </a:solidFill>
                <a:latin typeface="Menlo"/>
                <a:ea typeface="Menlo"/>
                <a:cs typeface="Menlo"/>
              </a:rPr>
              <a:t>    uint256 finishingPosition</a:t>
            </a:r>
          </a:p>
          <a:p>
            <a:pPr algn="l">
              <a:defRPr sz="915" b="0">
                <a:solidFill>
                  <a:srgbClr val="FFFFFF"/>
                </a:solidFill>
                <a:latin typeface="Menlo"/>
                <a:ea typeface="Menlo"/>
                <a:cs typeface="Menlo"/>
              </a:defRPr>
            </a:pPr>
            <a:r>
              <a:rPr sz="915" b="0">
                <a:solidFill>
                  <a:srgbClr val="FFFFFF"/>
                </a:solidFill>
                <a:latin typeface="Menlo"/>
                <a:ea typeface="Menlo"/>
                <a:cs typeface="Menlo"/>
              </a:rPr>
              <a:t>) external onlyCarOwner(carId) {</a:t>
            </a:r>
          </a:p>
          <a:p>
            <a:pPr algn="l">
              <a:defRPr sz="915" b="0">
                <a:solidFill>
                  <a:srgbClr val="FFFFFF"/>
                </a:solidFill>
                <a:latin typeface="Menlo"/>
                <a:ea typeface="Menlo"/>
                <a:cs typeface="Menlo"/>
              </a:defRPr>
            </a:pPr>
            <a:r>
              <a:rPr sz="915" b="0">
                <a:solidFill>
                  <a:srgbClr val="FFFFFF"/>
                </a:solidFill>
                <a:latin typeface="Menlo"/>
                <a:ea typeface="Menlo"/>
                <a:cs typeface="Menlo"/>
              </a:rPr>
              <a:t>    _recordRaceResult(carId, day, finishingPosition);</a:t>
            </a:r>
          </a:p>
          <a:p>
            <a:pPr algn="l">
              <a:defRPr sz="915" b="0">
                <a:solidFill>
                  <a:srgbClr val="FFFFFF"/>
                </a:solidFill>
                <a:latin typeface="Menlo"/>
                <a:ea typeface="Menlo"/>
                <a:cs typeface="Menlo"/>
              </a:defRPr>
            </a:pPr>
            <a:r>
              <a:rPr sz="915" b="0">
                <a:solidFill>
                  <a:srgbClr val="FFFFFF"/>
                </a:solidFill>
                <a:latin typeface="Menlo"/>
                <a:ea typeface="Menlo"/>
                <a:cs typeface="Menlo"/>
              </a:rPr>
              <a:t>}</a:t>
            </a:r>
          </a:p>
        </p:txBody>
      </p:sp>
      <p:sp>
        <p:nvSpPr>
          <p:cNvPr id="41" name="正方形/長方形 40">
            <a:extLst>
              <a:ext uri="{FF2B5EF4-FFF2-40B4-BE49-F238E27FC236}">
                <a16:creationId xmlns:a16="http://schemas.microsoft.com/office/drawing/2014/main" id="{CA66E74A-D8C5-4EF4-A3D2-8CD868DECBD9}"/>
              </a:ext>
            </a:extLst>
          </p:cNvPr>
          <p:cNvSpPr>
            <a:spLocks noGrp="1"/>
          </p:cNvSpPr>
          <p:nvPr/>
        </p:nvSpPr>
        <p:spPr>
          <a:xfrm>
            <a:off x="7810500" y="2333625"/>
            <a:ext cx="2857500" cy="1524000"/>
          </a:xfrm>
          <a:prstGeom prst="rect">
            <a:avLst/>
          </a:prstGeom>
          <a:solidFill>
            <a:srgbClr val="DDF7FF"/>
          </a:solidFill>
          <a:ln w="11430">
            <a:solidFill>
              <a:srgbClr val="1D2733"/>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6D1DC4E9-5ADD-4CF9-888C-2D74151000F6}"/>
              </a:ext>
            </a:extLst>
          </p:cNvPr>
          <p:cNvSpPr>
            <a:spLocks noGrp="1"/>
          </p:cNvSpPr>
          <p:nvPr/>
        </p:nvSpPr>
        <p:spPr>
          <a:xfrm>
            <a:off x="7981950" y="2505075"/>
            <a:ext cx="2514600" cy="1143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ここでクリア</a:t>
            </a:r>
          </a:p>
          <a:p>
            <a:endParaRPr sz="1275" b="1">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`external` と書いているので、コントラクトの外から呼び出せるfunctionになっています。</a:t>
            </a:r>
          </a:p>
        </p:txBody>
      </p:sp>
      <p:sp>
        <p:nvSpPr>
          <p:cNvPr id="43" name="正方形/長方形 42">
            <a:extLst>
              <a:ext uri="{FF2B5EF4-FFF2-40B4-BE49-F238E27FC236}">
                <a16:creationId xmlns:a16="http://schemas.microsoft.com/office/drawing/2014/main" id="{E0A62A81-1257-48A8-BCDA-0E0847A5AA05}"/>
              </a:ext>
            </a:extLst>
          </p:cNvPr>
          <p:cNvSpPr>
            <a:spLocks noGrp="1"/>
          </p:cNvSpPr>
          <p:nvPr/>
        </p:nvSpPr>
        <p:spPr>
          <a:xfrm>
            <a:off x="7848600" y="4267200"/>
            <a:ext cx="27813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D2733"/>
                </a:solidFill>
                <a:latin typeface="Hiragino Sans"/>
                <a:ea typeface="Hiragino Sans"/>
                <a:cs typeface="Hiragino Sans"/>
              </a:defRPr>
            </a:pPr>
            <a:r>
              <a:rPr sz="1200" b="0">
                <a:solidFill>
                  <a:srgbClr val="1D2733"/>
                </a:solidFill>
                <a:latin typeface="Hiragino Sans"/>
                <a:ea typeface="Hiragino Sans"/>
                <a:cs typeface="Hiragino Sans"/>
              </a:rPr>
              <a:t>createCar は無料で車を作る入口、recordRaceResult はレース結果を記録する入口です。</a:t>
            </a:r>
          </a:p>
        </p:txBody>
      </p:sp>
      <p:sp>
        <p:nvSpPr>
          <p:cNvPr id="44" name="正方形/長方形 43">
            <a:extLst>
              <a:ext uri="{FF2B5EF4-FFF2-40B4-BE49-F238E27FC236}">
                <a16:creationId xmlns:a16="http://schemas.microsoft.com/office/drawing/2014/main" id="{8430A979-C07A-4FFD-B2EF-B75C566F2B6F}"/>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RaceForgeCampaign.sol lines 83-112</a:t>
            </a:r>
          </a:p>
        </p:txBody>
      </p:sp>
      <p:sp>
        <p:nvSpPr>
          <p:cNvPr id="45" name="正方形/長方形 44">
            <a:extLst>
              <a:ext uri="{FF2B5EF4-FFF2-40B4-BE49-F238E27FC236}">
                <a16:creationId xmlns:a16="http://schemas.microsoft.com/office/drawing/2014/main" id="{77639269-9EF9-4A8A-AF42-7BFA12AAFB2E}"/>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04</a:t>
            </a:r>
          </a:p>
        </p:txBody>
      </p:sp>
    </p:spTree>
    <p:extLst>
      <p:ext uri="{BB962C8B-B14F-4D97-AF65-F5344CB8AC3E}">
        <p14:creationId xmlns:p14="http://schemas.microsoft.com/office/powerpoint/2010/main" val="33727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4444820E-5421-485D-A814-783CEB899B0F}"/>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1AEE05AF-9153-47D2-A84F-856E638A37F1}"/>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35E86B1-A88F-4F09-816E-881995436FD6}"/>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2118C7BC-8226-45BD-B089-3956E05A01F7}"/>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D04688D2-816D-4D31-9F53-B3C077F33A39}"/>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D9B26C47-E694-49E7-8C93-038885E2E1BE}"/>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E5514D00-307B-4C47-8E3F-BF63BFF43D35}"/>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E1FDCB38-3073-4803-B6D5-4648AF6D7D75}"/>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0C2493C0-1AE7-4201-AB5F-0D0F934CAB1C}"/>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C399A178-DC9A-499A-9280-CA7D9C3E9D61}"/>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0B1A2EB6-A678-4253-AE36-02AF446588EA}"/>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74D681C5-BFDE-43E8-86BA-AFA723283D18}"/>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9C5118A8-6A61-4B15-8895-6B575E615DE2}"/>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0CF04254-7656-4B9C-BD61-DE0C97D3D869}"/>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D7FAF805-8BBD-46DA-883F-F2B0C0ADE4A0}"/>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29B70669-5CE7-4E63-A327-664F81E2D9AD}"/>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B986D719-B9F1-4B52-906B-9AA89E21ACA0}"/>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6D41DAA2-72D0-4419-A97E-204265DA8948}"/>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45251F62-F92E-4318-B440-83A97D5DF80F}"/>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64865DA8-C5F9-470C-8E4B-E809739B9AE1}"/>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CE7254AF-3BDC-42B6-97F8-D69053419F50}"/>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3D67FEF5-EDD9-4147-9314-A22EBD7B6013}"/>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6F303FBC-6360-49E9-83CB-93B9B4B91B70}"/>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C4AB8BF8-0AD6-46D0-B03A-7D21A509762C}"/>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675F0813-67AF-45E7-B420-B40C65FCD8F8}"/>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A9414F66-3A07-4227-944A-776DEBF53610}"/>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0202DC51-7F87-4BA6-8716-1C146E43D4FE}"/>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80B45260-D4F3-46C7-8E01-A664F81DD7DA}"/>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AD875B59-1DDF-4A8B-A717-4328F37B0243}"/>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4C0764AE-B845-46CA-8429-72C1044E44BD}"/>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08A8A502-83BE-4BCA-BB95-E11B377E0618}"/>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97DBC545-7884-447E-92F4-73278B14D811}"/>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CD864C35-AD71-4C77-9EF5-6750FBE76CCA}"/>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AE4A8C67-486A-4DF6-8C9D-4F0C4B016693}"/>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FC085252-9AB2-492A-AFD7-4686A0356F92}"/>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要件2: デプロイ者だけが実行できる機能</a:t>
            </a:r>
          </a:p>
        </p:txBody>
      </p:sp>
      <p:sp>
        <p:nvSpPr>
          <p:cNvPr id="36" name="正方形/長方形 35">
            <a:extLst>
              <a:ext uri="{FF2B5EF4-FFF2-40B4-BE49-F238E27FC236}">
                <a16:creationId xmlns:a16="http://schemas.microsoft.com/office/drawing/2014/main" id="{89D5F535-A1B0-4143-9DCC-C54E3A9F485F}"/>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modifierを使って、実行できる人を制限しました。</a:t>
            </a:r>
          </a:p>
        </p:txBody>
      </p:sp>
      <p:sp>
        <p:nvSpPr>
          <p:cNvPr id="37" name="正方形/長方形 36">
            <a:extLst>
              <a:ext uri="{FF2B5EF4-FFF2-40B4-BE49-F238E27FC236}">
                <a16:creationId xmlns:a16="http://schemas.microsoft.com/office/drawing/2014/main" id="{61DFAE5B-0323-4C04-BE0D-E05FF70526D3}"/>
              </a:ext>
            </a:extLst>
          </p:cNvPr>
          <p:cNvSpPr>
            <a:spLocks noGrp="1"/>
          </p:cNvSpPr>
          <p:nvPr/>
        </p:nvSpPr>
        <p:spPr>
          <a:xfrm>
            <a:off x="781050" y="1714500"/>
            <a:ext cx="1047750" cy="304800"/>
          </a:xfrm>
          <a:prstGeom prst="rect">
            <a:avLst/>
          </a:prstGeom>
          <a:solidFill>
            <a:srgbClr val="8BE06B"/>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72261DD2-8D9B-4A16-99CF-E49D9329F8B9}"/>
              </a:ext>
            </a:extLst>
          </p:cNvPr>
          <p:cNvSpPr>
            <a:spLocks noGrp="1"/>
          </p:cNvSpPr>
          <p:nvPr/>
        </p:nvSpPr>
        <p:spPr>
          <a:xfrm>
            <a:off x="876300" y="1781175"/>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a:solidFill>
                  <a:srgbClr val="1D2733"/>
                </a:solidFill>
                <a:latin typeface="Avenir Next"/>
                <a:ea typeface="Avenir Next"/>
                <a:cs typeface="Avenir Next"/>
              </a:rPr>
              <a:t>要件</a:t>
            </a:r>
            <a:r>
              <a:rPr sz="825" b="1" dirty="0">
                <a:solidFill>
                  <a:srgbClr val="1D2733"/>
                </a:solidFill>
                <a:latin typeface="Avenir Next"/>
                <a:ea typeface="Avenir Next"/>
                <a:cs typeface="Avenir Next"/>
              </a:rPr>
              <a:t>2</a:t>
            </a:r>
          </a:p>
        </p:txBody>
      </p:sp>
      <p:sp>
        <p:nvSpPr>
          <p:cNvPr id="39" name="正方形/長方形 38">
            <a:extLst>
              <a:ext uri="{FF2B5EF4-FFF2-40B4-BE49-F238E27FC236}">
                <a16:creationId xmlns:a16="http://schemas.microsoft.com/office/drawing/2014/main" id="{00B9A271-F09C-429F-8E69-0A80023C1904}"/>
              </a:ext>
            </a:extLst>
          </p:cNvPr>
          <p:cNvSpPr>
            <a:spLocks noGrp="1"/>
          </p:cNvSpPr>
          <p:nvPr/>
        </p:nvSpPr>
        <p:spPr>
          <a:xfrm>
            <a:off x="781050" y="2095500"/>
            <a:ext cx="6667500" cy="4000500"/>
          </a:xfrm>
          <a:prstGeom prst="rect">
            <a:avLst/>
          </a:prstGeom>
          <a:solidFill>
            <a:srgbClr val="17202C"/>
          </a:solidFill>
          <a:ln w="11430">
            <a:solidFill>
              <a:srgbClr val="2E3B4A"/>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7021795D-9471-4F17-9B58-8EF8F6E324E3}"/>
              </a:ext>
            </a:extLst>
          </p:cNvPr>
          <p:cNvSpPr>
            <a:spLocks noGrp="1"/>
          </p:cNvSpPr>
          <p:nvPr/>
        </p:nvSpPr>
        <p:spPr>
          <a:xfrm>
            <a:off x="952500" y="2266950"/>
            <a:ext cx="6324600" cy="3676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85" b="0">
                <a:solidFill>
                  <a:srgbClr val="FFFFFF"/>
                </a:solidFill>
                <a:latin typeface="Menlo"/>
                <a:ea typeface="Menlo"/>
                <a:cs typeface="Menlo"/>
              </a:defRPr>
            </a:pPr>
            <a:r>
              <a:rPr sz="885" b="0">
                <a:solidFill>
                  <a:srgbClr val="FFFFFF"/>
                </a:solidFill>
                <a:latin typeface="Menlo"/>
                <a:ea typeface="Menlo"/>
                <a:cs typeface="Menlo"/>
              </a:rPr>
              <a:t>address public immutable deployer;</a:t>
            </a:r>
          </a:p>
          <a:p>
            <a:endParaRPr sz="885" b="0">
              <a:solidFill>
                <a:srgbClr val="FFFFFF"/>
              </a:solidFill>
              <a:latin typeface="Menlo"/>
              <a:ea typeface="Menlo"/>
              <a:cs typeface="Menlo"/>
            </a:endParaRPr>
          </a:p>
          <a:p>
            <a:pPr algn="l">
              <a:defRPr sz="885" b="0">
                <a:solidFill>
                  <a:srgbClr val="FFFFFF"/>
                </a:solidFill>
                <a:latin typeface="Menlo"/>
                <a:ea typeface="Menlo"/>
                <a:cs typeface="Menlo"/>
              </a:defRPr>
            </a:pPr>
            <a:r>
              <a:rPr sz="885" b="0">
                <a:solidFill>
                  <a:srgbClr val="FFFFFF"/>
                </a:solidFill>
                <a:latin typeface="Menlo"/>
                <a:ea typeface="Menlo"/>
                <a:cs typeface="Menlo"/>
              </a:rPr>
              <a:t>// Requirement 2: function modifier</a:t>
            </a:r>
          </a:p>
          <a:p>
            <a:pPr algn="l">
              <a:defRPr sz="885" b="0">
                <a:solidFill>
                  <a:srgbClr val="FFFFFF"/>
                </a:solidFill>
                <a:latin typeface="Menlo"/>
                <a:ea typeface="Menlo"/>
                <a:cs typeface="Menlo"/>
              </a:defRPr>
            </a:pPr>
            <a:r>
              <a:rPr sz="885" b="0">
                <a:solidFill>
                  <a:srgbClr val="FFFFFF"/>
                </a:solidFill>
                <a:latin typeface="Menlo"/>
                <a:ea typeface="Menlo"/>
                <a:cs typeface="Menlo"/>
              </a:rPr>
              <a:t>// for deployer-only access.</a:t>
            </a:r>
          </a:p>
          <a:p>
            <a:pPr algn="l">
              <a:defRPr sz="885" b="0">
                <a:solidFill>
                  <a:srgbClr val="FFFFFF"/>
                </a:solidFill>
                <a:latin typeface="Menlo"/>
                <a:ea typeface="Menlo"/>
                <a:cs typeface="Menlo"/>
              </a:defRPr>
            </a:pPr>
            <a:r>
              <a:rPr sz="885" b="0">
                <a:solidFill>
                  <a:srgbClr val="FFFFFF"/>
                </a:solidFill>
                <a:latin typeface="Menlo"/>
                <a:ea typeface="Menlo"/>
                <a:cs typeface="Menlo"/>
              </a:rPr>
              <a:t>modifier onlyDeployer() {</a:t>
            </a:r>
          </a:p>
          <a:p>
            <a:pPr algn="l">
              <a:defRPr sz="885" b="0">
                <a:solidFill>
                  <a:srgbClr val="FFFFFF"/>
                </a:solidFill>
                <a:latin typeface="Menlo"/>
                <a:ea typeface="Menlo"/>
                <a:cs typeface="Menlo"/>
              </a:defRPr>
            </a:pPr>
            <a:r>
              <a:rPr sz="885" b="0">
                <a:solidFill>
                  <a:srgbClr val="FFFFFF"/>
                </a:solidFill>
                <a:latin typeface="Menlo"/>
                <a:ea typeface="Menlo"/>
                <a:cs typeface="Menlo"/>
              </a:rPr>
              <a:t>    require(</a:t>
            </a:r>
          </a:p>
          <a:p>
            <a:pPr algn="l">
              <a:defRPr sz="885" b="0">
                <a:solidFill>
                  <a:srgbClr val="FFFFFF"/>
                </a:solidFill>
                <a:latin typeface="Menlo"/>
                <a:ea typeface="Menlo"/>
                <a:cs typeface="Menlo"/>
              </a:defRPr>
            </a:pPr>
            <a:r>
              <a:rPr sz="885" b="0">
                <a:solidFill>
                  <a:srgbClr val="FFFFFF"/>
                </a:solidFill>
                <a:latin typeface="Menlo"/>
                <a:ea typeface="Menlo"/>
                <a:cs typeface="Menlo"/>
              </a:rPr>
              <a:t>        msg.sender == deployer,</a:t>
            </a:r>
          </a:p>
          <a:p>
            <a:pPr algn="l">
              <a:defRPr sz="885" b="0">
                <a:solidFill>
                  <a:srgbClr val="FFFFFF"/>
                </a:solidFill>
                <a:latin typeface="Menlo"/>
                <a:ea typeface="Menlo"/>
                <a:cs typeface="Menlo"/>
              </a:defRPr>
            </a:pPr>
            <a:r>
              <a:rPr sz="885" b="0">
                <a:solidFill>
                  <a:srgbClr val="FFFFFF"/>
                </a:solidFill>
                <a:latin typeface="Menlo"/>
                <a:ea typeface="Menlo"/>
                <a:cs typeface="Menlo"/>
              </a:rPr>
              <a:t>        "Only deployer can call this function"</a:t>
            </a:r>
          </a:p>
          <a:p>
            <a:pPr algn="l">
              <a:defRPr sz="885" b="0">
                <a:solidFill>
                  <a:srgbClr val="FFFFFF"/>
                </a:solidFill>
                <a:latin typeface="Menlo"/>
                <a:ea typeface="Menlo"/>
                <a:cs typeface="Menlo"/>
              </a:defRPr>
            </a:pPr>
            <a:r>
              <a:rPr sz="885" b="0">
                <a:solidFill>
                  <a:srgbClr val="FFFFFF"/>
                </a:solidFill>
                <a:latin typeface="Menlo"/>
                <a:ea typeface="Menlo"/>
                <a:cs typeface="Menlo"/>
              </a:rPr>
              <a:t>    );</a:t>
            </a:r>
          </a:p>
          <a:p>
            <a:pPr algn="l">
              <a:defRPr sz="885" b="0">
                <a:solidFill>
                  <a:srgbClr val="FFFFFF"/>
                </a:solidFill>
                <a:latin typeface="Menlo"/>
                <a:ea typeface="Menlo"/>
                <a:cs typeface="Menlo"/>
              </a:defRPr>
            </a:pPr>
            <a:r>
              <a:rPr sz="885" b="0">
                <a:solidFill>
                  <a:srgbClr val="FFFFFF"/>
                </a:solidFill>
                <a:latin typeface="Menlo"/>
                <a:ea typeface="Menlo"/>
                <a:cs typeface="Menlo"/>
              </a:rPr>
              <a:t>    _;</a:t>
            </a:r>
          </a:p>
          <a:p>
            <a:pPr algn="l">
              <a:defRPr sz="885" b="0">
                <a:solidFill>
                  <a:srgbClr val="FFFFFF"/>
                </a:solidFill>
                <a:latin typeface="Menlo"/>
                <a:ea typeface="Menlo"/>
                <a:cs typeface="Menlo"/>
              </a:defRPr>
            </a:pPr>
            <a:r>
              <a:rPr sz="885" b="0">
                <a:solidFill>
                  <a:srgbClr val="FFFFFF"/>
                </a:solidFill>
                <a:latin typeface="Menlo"/>
                <a:ea typeface="Menlo"/>
                <a:cs typeface="Menlo"/>
              </a:rPr>
              <a:t>}</a:t>
            </a:r>
          </a:p>
          <a:p>
            <a:endParaRPr sz="885" b="0">
              <a:solidFill>
                <a:srgbClr val="FFFFFF"/>
              </a:solidFill>
              <a:latin typeface="Menlo"/>
              <a:ea typeface="Menlo"/>
              <a:cs typeface="Menlo"/>
            </a:endParaRPr>
          </a:p>
          <a:p>
            <a:pPr algn="l">
              <a:defRPr sz="885" b="0">
                <a:solidFill>
                  <a:srgbClr val="FFFFFF"/>
                </a:solidFill>
                <a:latin typeface="Menlo"/>
                <a:ea typeface="Menlo"/>
                <a:cs typeface="Menlo"/>
              </a:defRPr>
            </a:pPr>
            <a:r>
              <a:rPr sz="885" b="0">
                <a:solidFill>
                  <a:srgbClr val="FFFFFF"/>
                </a:solidFill>
                <a:latin typeface="Menlo"/>
                <a:ea typeface="Menlo"/>
                <a:cs typeface="Menlo"/>
              </a:rPr>
              <a:t>constructor() {</a:t>
            </a:r>
          </a:p>
          <a:p>
            <a:pPr algn="l">
              <a:defRPr sz="885" b="0">
                <a:solidFill>
                  <a:srgbClr val="FFFFFF"/>
                </a:solidFill>
                <a:latin typeface="Menlo"/>
                <a:ea typeface="Menlo"/>
                <a:cs typeface="Menlo"/>
              </a:defRPr>
            </a:pPr>
            <a:r>
              <a:rPr sz="885" b="0">
                <a:solidFill>
                  <a:srgbClr val="FFFFFF"/>
                </a:solidFill>
                <a:latin typeface="Menlo"/>
                <a:ea typeface="Menlo"/>
                <a:cs typeface="Menlo"/>
              </a:rPr>
              <a:t>    deployer = msg.sender;</a:t>
            </a:r>
          </a:p>
          <a:p>
            <a:pPr algn="l">
              <a:defRPr sz="885" b="0">
                <a:solidFill>
                  <a:srgbClr val="FFFFFF"/>
                </a:solidFill>
                <a:latin typeface="Menlo"/>
                <a:ea typeface="Menlo"/>
                <a:cs typeface="Menlo"/>
              </a:defRPr>
            </a:pPr>
            <a:r>
              <a:rPr sz="885" b="0">
                <a:solidFill>
                  <a:srgbClr val="FFFFFF"/>
                </a:solidFill>
                <a:latin typeface="Menlo"/>
                <a:ea typeface="Menlo"/>
                <a:cs typeface="Menlo"/>
              </a:rPr>
              <a:t>}</a:t>
            </a:r>
          </a:p>
          <a:p>
            <a:endParaRPr sz="885" b="0">
              <a:solidFill>
                <a:srgbClr val="FFFFFF"/>
              </a:solidFill>
              <a:latin typeface="Menlo"/>
              <a:ea typeface="Menlo"/>
              <a:cs typeface="Menlo"/>
            </a:endParaRPr>
          </a:p>
          <a:p>
            <a:pPr algn="l">
              <a:defRPr sz="885" b="0">
                <a:solidFill>
                  <a:srgbClr val="FFFFFF"/>
                </a:solidFill>
                <a:latin typeface="Menlo"/>
                <a:ea typeface="Menlo"/>
                <a:cs typeface="Menlo"/>
              </a:defRPr>
            </a:pPr>
            <a:r>
              <a:rPr sz="885" b="0">
                <a:solidFill>
                  <a:srgbClr val="FFFFFF"/>
                </a:solidFill>
                <a:latin typeface="Menlo"/>
                <a:ea typeface="Menlo"/>
                <a:cs typeface="Menlo"/>
              </a:rPr>
              <a:t>function getContractBalance()</a:t>
            </a:r>
          </a:p>
          <a:p>
            <a:pPr algn="l">
              <a:defRPr sz="885" b="0">
                <a:solidFill>
                  <a:srgbClr val="FFFFFF"/>
                </a:solidFill>
                <a:latin typeface="Menlo"/>
                <a:ea typeface="Menlo"/>
                <a:cs typeface="Menlo"/>
              </a:defRPr>
            </a:pPr>
            <a:r>
              <a:rPr sz="885" b="0">
                <a:solidFill>
                  <a:srgbClr val="FFFFFF"/>
                </a:solidFill>
                <a:latin typeface="Menlo"/>
                <a:ea typeface="Menlo"/>
                <a:cs typeface="Menlo"/>
              </a:rPr>
              <a:t>    external</a:t>
            </a:r>
          </a:p>
          <a:p>
            <a:pPr algn="l">
              <a:defRPr sz="885" b="0">
                <a:solidFill>
                  <a:srgbClr val="FFFFFF"/>
                </a:solidFill>
                <a:latin typeface="Menlo"/>
                <a:ea typeface="Menlo"/>
                <a:cs typeface="Menlo"/>
              </a:defRPr>
            </a:pPr>
            <a:r>
              <a:rPr sz="885" b="0">
                <a:solidFill>
                  <a:srgbClr val="FFFFFF"/>
                </a:solidFill>
                <a:latin typeface="Menlo"/>
                <a:ea typeface="Menlo"/>
                <a:cs typeface="Menlo"/>
              </a:rPr>
              <a:t>    view</a:t>
            </a:r>
          </a:p>
          <a:p>
            <a:pPr algn="l">
              <a:defRPr sz="885" b="0">
                <a:solidFill>
                  <a:srgbClr val="FFFFFF"/>
                </a:solidFill>
                <a:latin typeface="Menlo"/>
                <a:ea typeface="Menlo"/>
                <a:cs typeface="Menlo"/>
              </a:defRPr>
            </a:pPr>
            <a:r>
              <a:rPr sz="885" b="0">
                <a:solidFill>
                  <a:srgbClr val="FFFFFF"/>
                </a:solidFill>
                <a:latin typeface="Menlo"/>
                <a:ea typeface="Menlo"/>
                <a:cs typeface="Menlo"/>
              </a:rPr>
              <a:t>    onlyDeployer</a:t>
            </a:r>
          </a:p>
          <a:p>
            <a:pPr algn="l">
              <a:defRPr sz="885" b="0">
                <a:solidFill>
                  <a:srgbClr val="FFFFFF"/>
                </a:solidFill>
                <a:latin typeface="Menlo"/>
                <a:ea typeface="Menlo"/>
                <a:cs typeface="Menlo"/>
              </a:defRPr>
            </a:pPr>
            <a:r>
              <a:rPr sz="885" b="0">
                <a:solidFill>
                  <a:srgbClr val="FFFFFF"/>
                </a:solidFill>
                <a:latin typeface="Menlo"/>
                <a:ea typeface="Menlo"/>
                <a:cs typeface="Menlo"/>
              </a:rPr>
              <a:t>    returns (uint256)</a:t>
            </a:r>
          </a:p>
          <a:p>
            <a:pPr algn="l">
              <a:defRPr sz="885" b="0">
                <a:solidFill>
                  <a:srgbClr val="FFFFFF"/>
                </a:solidFill>
                <a:latin typeface="Menlo"/>
                <a:ea typeface="Menlo"/>
                <a:cs typeface="Menlo"/>
              </a:defRPr>
            </a:pPr>
            <a:r>
              <a:rPr sz="885" b="0">
                <a:solidFill>
                  <a:srgbClr val="FFFFFF"/>
                </a:solidFill>
                <a:latin typeface="Menlo"/>
                <a:ea typeface="Menlo"/>
                <a:cs typeface="Menlo"/>
              </a:rPr>
              <a:t>{</a:t>
            </a:r>
          </a:p>
          <a:p>
            <a:pPr algn="l">
              <a:defRPr sz="885" b="0">
                <a:solidFill>
                  <a:srgbClr val="FFFFFF"/>
                </a:solidFill>
                <a:latin typeface="Menlo"/>
                <a:ea typeface="Menlo"/>
                <a:cs typeface="Menlo"/>
              </a:defRPr>
            </a:pPr>
            <a:r>
              <a:rPr sz="885" b="0">
                <a:solidFill>
                  <a:srgbClr val="FFFFFF"/>
                </a:solidFill>
                <a:latin typeface="Menlo"/>
                <a:ea typeface="Menlo"/>
                <a:cs typeface="Menlo"/>
              </a:rPr>
              <a:t>    return address(this).balance;</a:t>
            </a:r>
          </a:p>
          <a:p>
            <a:pPr algn="l">
              <a:defRPr sz="885" b="0">
                <a:solidFill>
                  <a:srgbClr val="FFFFFF"/>
                </a:solidFill>
                <a:latin typeface="Menlo"/>
                <a:ea typeface="Menlo"/>
                <a:cs typeface="Menlo"/>
              </a:defRPr>
            </a:pPr>
            <a:r>
              <a:rPr sz="885" b="0">
                <a:solidFill>
                  <a:srgbClr val="FFFFFF"/>
                </a:solidFill>
                <a:latin typeface="Menlo"/>
                <a:ea typeface="Menlo"/>
                <a:cs typeface="Menlo"/>
              </a:rPr>
              <a:t>}</a:t>
            </a:r>
          </a:p>
        </p:txBody>
      </p:sp>
      <p:sp>
        <p:nvSpPr>
          <p:cNvPr id="41" name="正方形/長方形 40">
            <a:extLst>
              <a:ext uri="{FF2B5EF4-FFF2-40B4-BE49-F238E27FC236}">
                <a16:creationId xmlns:a16="http://schemas.microsoft.com/office/drawing/2014/main" id="{99159E19-65CE-4F5B-843B-D7C050285C7C}"/>
              </a:ext>
            </a:extLst>
          </p:cNvPr>
          <p:cNvSpPr>
            <a:spLocks noGrp="1"/>
          </p:cNvSpPr>
          <p:nvPr/>
        </p:nvSpPr>
        <p:spPr>
          <a:xfrm>
            <a:off x="7848600" y="2266950"/>
            <a:ext cx="2895600" cy="1714500"/>
          </a:xfrm>
          <a:prstGeom prst="rect">
            <a:avLst/>
          </a:prstGeom>
          <a:solidFill>
            <a:srgbClr val="E9FFD9"/>
          </a:solidFill>
          <a:ln w="11430">
            <a:solidFill>
              <a:srgbClr val="1D2733"/>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F0FDE999-E349-4638-9520-AC73C9CB37AC}"/>
              </a:ext>
            </a:extLst>
          </p:cNvPr>
          <p:cNvSpPr>
            <a:spLocks noGrp="1"/>
          </p:cNvSpPr>
          <p:nvPr/>
        </p:nvSpPr>
        <p:spPr>
          <a:xfrm>
            <a:off x="8020050" y="2438400"/>
            <a:ext cx="2552700" cy="1333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ここでクリア</a:t>
            </a:r>
          </a:p>
          <a:p>
            <a:endParaRPr sz="1275" b="1">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`onlyDeployer` をつけた function は、デプロイしたウォレットだけが実行できます。</a:t>
            </a:r>
          </a:p>
        </p:txBody>
      </p:sp>
      <p:sp>
        <p:nvSpPr>
          <p:cNvPr id="43" name="正方形/長方形 42">
            <a:extLst>
              <a:ext uri="{FF2B5EF4-FFF2-40B4-BE49-F238E27FC236}">
                <a16:creationId xmlns:a16="http://schemas.microsoft.com/office/drawing/2014/main" id="{064BDB87-BABF-4506-AD4E-7751BF6459A5}"/>
              </a:ext>
            </a:extLst>
          </p:cNvPr>
          <p:cNvSpPr>
            <a:spLocks noGrp="1"/>
          </p:cNvSpPr>
          <p:nvPr/>
        </p:nvSpPr>
        <p:spPr>
          <a:xfrm>
            <a:off x="7886700" y="4171950"/>
            <a:ext cx="27813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D2733"/>
                </a:solidFill>
                <a:latin typeface="Hiragino Sans"/>
                <a:ea typeface="Hiragino Sans"/>
                <a:cs typeface="Hiragino Sans"/>
              </a:defRPr>
            </a:pPr>
            <a:r>
              <a:rPr sz="1200" b="0">
                <a:solidFill>
                  <a:srgbClr val="1D2733"/>
                </a:solidFill>
                <a:latin typeface="Hiragino Sans"/>
                <a:ea typeface="Hiragino Sans"/>
                <a:cs typeface="Hiragino Sans"/>
              </a:rPr>
              <a:t>この課題の例と同じく、コントラクト残高を確認する機能をデプロイ者限定にしました。</a:t>
            </a:r>
          </a:p>
        </p:txBody>
      </p:sp>
      <p:sp>
        <p:nvSpPr>
          <p:cNvPr id="44" name="正方形/長方形 43">
            <a:extLst>
              <a:ext uri="{FF2B5EF4-FFF2-40B4-BE49-F238E27FC236}">
                <a16:creationId xmlns:a16="http://schemas.microsoft.com/office/drawing/2014/main" id="{FE590D9B-AC75-49E2-BD36-68C45EB3E72F}"/>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RaceForgeCampaign.sol lines 22, 61-75, 114-117</a:t>
            </a:r>
          </a:p>
        </p:txBody>
      </p:sp>
      <p:sp>
        <p:nvSpPr>
          <p:cNvPr id="45" name="正方形/長方形 44">
            <a:extLst>
              <a:ext uri="{FF2B5EF4-FFF2-40B4-BE49-F238E27FC236}">
                <a16:creationId xmlns:a16="http://schemas.microsoft.com/office/drawing/2014/main" id="{ABCA03D5-9DEE-43A8-AE8B-45BE3AC564E9}"/>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05</a:t>
            </a:r>
          </a:p>
        </p:txBody>
      </p:sp>
    </p:spTree>
    <p:extLst>
      <p:ext uri="{BB962C8B-B14F-4D97-AF65-F5344CB8AC3E}">
        <p14:creationId xmlns:p14="http://schemas.microsoft.com/office/powerpoint/2010/main" val="2002902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01EECCBF-D735-4BF3-9665-365472A909C8}"/>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4C0F4BD1-D913-4373-B681-02A8FDDBF0E0}"/>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C232FE39-AD12-494B-B74D-8542FA9AE98F}"/>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F855393F-5E25-4A8F-85EB-698B845C86DE}"/>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ADE68A1F-6E04-4536-95AC-D1F050989AB9}"/>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1A927FE3-907A-46E4-91FA-8F310E9B1B1E}"/>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79B3F58D-7D89-4F7C-A1E4-F77127296128}"/>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892CCA82-556B-4124-B08D-D66806D28FB9}"/>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50C67424-A0EE-4A08-878F-2EDBB3F1EB72}"/>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F6E5174E-A4D2-4385-BF5F-DC9F8493FDF8}"/>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4EA2A1D5-496B-452D-BB52-B963E3C976E2}"/>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F55A37F4-71E5-4104-93D5-CCACA096199D}"/>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816846C2-2A08-4304-814B-7B166564E3F4}"/>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B4975C52-55F0-40BE-B703-9FFBB4DCF00B}"/>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CABE6C00-C783-405E-9842-ABBBE0DD6537}"/>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551F366E-147F-4524-A682-4F807A5B3DF1}"/>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C481C3A7-D63C-405C-9B0B-4C7E425237BE}"/>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C6D41914-F2B0-4E65-8B6A-D1F9AB30DE1B}"/>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FAC2ADD8-B0D7-45F4-BC1D-48B55B3CAC01}"/>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E8D85598-AFC0-4BB2-9883-98EF7C3973C5}"/>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42D6C80C-AED8-4A9F-88E1-542C47F32C18}"/>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468EDDBC-2CBE-4B03-9A5A-F3F02262C4B2}"/>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BAC39C91-CEE8-4F71-8A23-E3BA445965A0}"/>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FA0DBA2C-F1F5-42BF-886F-C7680DFFF5ED}"/>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640E22DC-8D3D-4ECB-B2CA-FD6910B24678}"/>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3748EA72-39B2-4704-B1BF-381E5B9CEDAE}"/>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EBA15B54-1A35-4773-A435-7DDFA1FF4D8C}"/>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263A66F7-4827-4A7E-8AA0-6B64C34E6B34}"/>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2884CC2D-2839-4001-913D-2AD970F36118}"/>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9CF79399-B4EE-4902-A3A6-624D86FA6D31}"/>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1A53E65D-2B4B-4D8D-BD10-1F9D8A77C74C}"/>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CC29DBB3-F078-4313-A328-71E4BD49002E}"/>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821447DC-A91A-49D9-9104-2D1120F4DBFE}"/>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3A84496C-BF18-4183-858D-091EDB930B05}"/>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C1A2C7C4-8D9C-43CE-A16E-2CC3064666E2}"/>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要件3: ETHを払う payable function</a:t>
            </a:r>
          </a:p>
        </p:txBody>
      </p:sp>
      <p:sp>
        <p:nvSpPr>
          <p:cNvPr id="36" name="正方形/長方形 35">
            <a:extLst>
              <a:ext uri="{FF2B5EF4-FFF2-40B4-BE49-F238E27FC236}">
                <a16:creationId xmlns:a16="http://schemas.microsoft.com/office/drawing/2014/main" id="{C5474265-08C0-4305-AD76-8E646C1CE240}"/>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強化するときだけETHが必要になるようにしました。</a:t>
            </a:r>
          </a:p>
        </p:txBody>
      </p:sp>
      <p:sp>
        <p:nvSpPr>
          <p:cNvPr id="37" name="正方形/長方形 36">
            <a:extLst>
              <a:ext uri="{FF2B5EF4-FFF2-40B4-BE49-F238E27FC236}">
                <a16:creationId xmlns:a16="http://schemas.microsoft.com/office/drawing/2014/main" id="{247DBA32-BBD2-4D1E-9FDC-9A1524FFE971}"/>
              </a:ext>
            </a:extLst>
          </p:cNvPr>
          <p:cNvSpPr>
            <a:spLocks noGrp="1"/>
          </p:cNvSpPr>
          <p:nvPr/>
        </p:nvSpPr>
        <p:spPr>
          <a:xfrm>
            <a:off x="778947" y="1704975"/>
            <a:ext cx="1047750" cy="304800"/>
          </a:xfrm>
          <a:prstGeom prst="rect">
            <a:avLst/>
          </a:prstGeom>
          <a:solidFill>
            <a:srgbClr val="FFB454"/>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47740066-6D84-4CC3-9DAA-01CE179D2AFE}"/>
              </a:ext>
            </a:extLst>
          </p:cNvPr>
          <p:cNvSpPr>
            <a:spLocks noGrp="1"/>
          </p:cNvSpPr>
          <p:nvPr/>
        </p:nvSpPr>
        <p:spPr>
          <a:xfrm>
            <a:off x="874197" y="1771650"/>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a:solidFill>
                  <a:srgbClr val="1D2733"/>
                </a:solidFill>
                <a:latin typeface="Avenir Next"/>
                <a:ea typeface="Avenir Next"/>
                <a:cs typeface="Avenir Next"/>
              </a:rPr>
              <a:t>要件3</a:t>
            </a:r>
          </a:p>
        </p:txBody>
      </p:sp>
      <p:sp>
        <p:nvSpPr>
          <p:cNvPr id="39" name="正方形/長方形 38">
            <a:extLst>
              <a:ext uri="{FF2B5EF4-FFF2-40B4-BE49-F238E27FC236}">
                <a16:creationId xmlns:a16="http://schemas.microsoft.com/office/drawing/2014/main" id="{D482B45E-19BB-40A5-97FA-9A5EECA504D1}"/>
              </a:ext>
            </a:extLst>
          </p:cNvPr>
          <p:cNvSpPr>
            <a:spLocks noGrp="1"/>
          </p:cNvSpPr>
          <p:nvPr/>
        </p:nvSpPr>
        <p:spPr>
          <a:xfrm>
            <a:off x="781050" y="2095500"/>
            <a:ext cx="6667500" cy="4000500"/>
          </a:xfrm>
          <a:prstGeom prst="rect">
            <a:avLst/>
          </a:prstGeom>
          <a:solidFill>
            <a:srgbClr val="17202C"/>
          </a:solidFill>
          <a:ln w="11430">
            <a:solidFill>
              <a:srgbClr val="2E3B4A"/>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DFA1A6BD-DCD1-4BFD-B897-2B24662BFADE}"/>
              </a:ext>
            </a:extLst>
          </p:cNvPr>
          <p:cNvSpPr>
            <a:spLocks noGrp="1"/>
          </p:cNvSpPr>
          <p:nvPr/>
        </p:nvSpPr>
        <p:spPr>
          <a:xfrm>
            <a:off x="952500" y="2266950"/>
            <a:ext cx="6324600" cy="36766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uint256 public constant UPGRADE_FEE = 0.003 ether;</a:t>
            </a:r>
          </a:p>
          <a:p>
            <a:pPr>
              <a:defRPr sz="863" b="0">
                <a:solidFill>
                  <a:srgbClr val="FFFFFF"/>
                </a:solidFill>
                <a:latin typeface="Menlo"/>
                <a:ea typeface="Menlo"/>
                <a:cs typeface="Menlo"/>
              </a:defRPr>
            </a:pPr>
            <a:endParaRPr lang="en-US" altLang="ja-JP" sz="1050" dirty="0">
              <a:solidFill>
                <a:srgbClr val="FFFFFF"/>
              </a:solidFill>
              <a:latin typeface="Menlo"/>
              <a:ea typeface="Menlo"/>
              <a:cs typeface="Menlo"/>
            </a:endParaRP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function </a:t>
            </a:r>
            <a:r>
              <a:rPr lang="en-US" altLang="ja-JP" sz="1050" dirty="0" err="1">
                <a:solidFill>
                  <a:srgbClr val="FFFFFF"/>
                </a:solidFill>
                <a:latin typeface="Menlo"/>
                <a:ea typeface="Menlo"/>
                <a:cs typeface="Menlo"/>
              </a:rPr>
              <a:t>upgrade</a:t>
            </a:r>
            <a:r>
              <a:rPr lang="en-US" altLang="ja-JP" sz="1050" b="1" dirty="0" err="1">
                <a:solidFill>
                  <a:schemeClr val="accent1">
                    <a:lumMod val="60000"/>
                    <a:lumOff val="40000"/>
                  </a:schemeClr>
                </a:solidFill>
                <a:latin typeface="Menlo"/>
                <a:ea typeface="Menlo"/>
                <a:cs typeface="Menlo"/>
              </a:rPr>
              <a:t>Control</a:t>
            </a:r>
            <a:r>
              <a:rPr lang="en-US" altLang="ja-JP" sz="1050" dirty="0">
                <a:solidFill>
                  <a:srgbClr val="FFFFFF"/>
                </a:solidFill>
                <a:latin typeface="Menlo"/>
                <a:ea typeface="Menlo"/>
                <a:cs typeface="Menlo"/>
              </a:rPr>
              <a:t>(uint256 </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external payable </a:t>
            </a:r>
            <a:r>
              <a:rPr lang="en-US" altLang="ja-JP" sz="1050" dirty="0" err="1">
                <a:solidFill>
                  <a:srgbClr val="FFFFFF"/>
                </a:solidFill>
                <a:latin typeface="Menlo"/>
                <a:ea typeface="Menlo"/>
                <a:cs typeface="Menlo"/>
              </a:rPr>
              <a:t>onlyCarOwner</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    _</a:t>
            </a:r>
            <a:r>
              <a:rPr lang="en-US" altLang="ja-JP" sz="1050" dirty="0" err="1">
                <a:solidFill>
                  <a:srgbClr val="FFFFFF"/>
                </a:solidFill>
                <a:latin typeface="Menlo"/>
                <a:ea typeface="Menlo"/>
                <a:cs typeface="Menlo"/>
              </a:rPr>
              <a:t>upgradeStat</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UpgradeStat.Control</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msg.value</a:t>
            </a: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endParaRPr lang="en-US" altLang="ja-JP" sz="1050" dirty="0">
              <a:solidFill>
                <a:srgbClr val="FFFFFF"/>
              </a:solidFill>
              <a:latin typeface="Menlo"/>
              <a:ea typeface="Menlo"/>
              <a:cs typeface="Menlo"/>
            </a:endParaRP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function </a:t>
            </a:r>
            <a:r>
              <a:rPr lang="en-US" altLang="ja-JP" sz="1050" dirty="0" err="1">
                <a:solidFill>
                  <a:srgbClr val="FFFFFF"/>
                </a:solidFill>
                <a:latin typeface="Menlo"/>
                <a:ea typeface="Menlo"/>
                <a:cs typeface="Menlo"/>
              </a:rPr>
              <a:t>upgrade</a:t>
            </a:r>
            <a:r>
              <a:rPr lang="en-US" altLang="ja-JP" sz="1050" b="1" dirty="0" err="1">
                <a:solidFill>
                  <a:schemeClr val="accent1">
                    <a:lumMod val="60000"/>
                    <a:lumOff val="40000"/>
                  </a:schemeClr>
                </a:solidFill>
                <a:latin typeface="Menlo"/>
                <a:ea typeface="Menlo"/>
                <a:cs typeface="Menlo"/>
              </a:rPr>
              <a:t>Speed</a:t>
            </a:r>
            <a:r>
              <a:rPr lang="en-US" altLang="ja-JP" sz="1050" dirty="0">
                <a:solidFill>
                  <a:srgbClr val="FFFFFF"/>
                </a:solidFill>
                <a:latin typeface="Menlo"/>
                <a:ea typeface="Menlo"/>
                <a:cs typeface="Menlo"/>
              </a:rPr>
              <a:t>(uint256 </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external payable </a:t>
            </a:r>
            <a:r>
              <a:rPr lang="en-US" altLang="ja-JP" sz="1050" dirty="0" err="1">
                <a:solidFill>
                  <a:srgbClr val="FFFFFF"/>
                </a:solidFill>
                <a:latin typeface="Menlo"/>
                <a:ea typeface="Menlo"/>
                <a:cs typeface="Menlo"/>
              </a:rPr>
              <a:t>onlyCarOwner</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    _</a:t>
            </a:r>
            <a:r>
              <a:rPr lang="en-US" altLang="ja-JP" sz="1050" dirty="0" err="1">
                <a:solidFill>
                  <a:srgbClr val="FFFFFF"/>
                </a:solidFill>
                <a:latin typeface="Menlo"/>
                <a:ea typeface="Menlo"/>
                <a:cs typeface="Menlo"/>
              </a:rPr>
              <a:t>upgradeStat</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UpgradeStat.Speed</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msg.value</a:t>
            </a: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endParaRPr lang="en-US" altLang="ja-JP" sz="1050" dirty="0">
              <a:solidFill>
                <a:srgbClr val="FFFFFF"/>
              </a:solidFill>
              <a:latin typeface="Menlo"/>
              <a:ea typeface="Menlo"/>
              <a:cs typeface="Menlo"/>
            </a:endParaRP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function </a:t>
            </a:r>
            <a:r>
              <a:rPr lang="en-US" altLang="ja-JP" sz="1050" dirty="0" err="1">
                <a:solidFill>
                  <a:srgbClr val="FFFFFF"/>
                </a:solidFill>
                <a:latin typeface="Menlo"/>
                <a:ea typeface="Menlo"/>
                <a:cs typeface="Menlo"/>
              </a:rPr>
              <a:t>upgrade</a:t>
            </a:r>
            <a:r>
              <a:rPr lang="en-US" altLang="ja-JP" sz="1050" b="1" dirty="0" err="1">
                <a:solidFill>
                  <a:schemeClr val="accent1">
                    <a:lumMod val="60000"/>
                    <a:lumOff val="40000"/>
                  </a:schemeClr>
                </a:solidFill>
                <a:latin typeface="Menlo"/>
                <a:ea typeface="Menlo"/>
                <a:cs typeface="Menlo"/>
              </a:rPr>
              <a:t>Accel</a:t>
            </a:r>
            <a:r>
              <a:rPr lang="en-US" altLang="ja-JP" sz="1050" dirty="0">
                <a:solidFill>
                  <a:srgbClr val="FFFFFF"/>
                </a:solidFill>
                <a:latin typeface="Menlo"/>
                <a:ea typeface="Menlo"/>
                <a:cs typeface="Menlo"/>
              </a:rPr>
              <a:t>(uint256 </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external payable </a:t>
            </a:r>
            <a:r>
              <a:rPr lang="en-US" altLang="ja-JP" sz="1050" dirty="0" err="1">
                <a:solidFill>
                  <a:srgbClr val="FFFFFF"/>
                </a:solidFill>
                <a:latin typeface="Menlo"/>
                <a:ea typeface="Menlo"/>
                <a:cs typeface="Menlo"/>
              </a:rPr>
              <a:t>onlyCarOwner</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    _</a:t>
            </a:r>
            <a:r>
              <a:rPr lang="en-US" altLang="ja-JP" sz="1050" dirty="0" err="1">
                <a:solidFill>
                  <a:srgbClr val="FFFFFF"/>
                </a:solidFill>
                <a:latin typeface="Menlo"/>
                <a:ea typeface="Menlo"/>
                <a:cs typeface="Menlo"/>
              </a:rPr>
              <a:t>upgradeStat</a:t>
            </a:r>
            <a:r>
              <a:rPr lang="en-US" altLang="ja-JP" sz="1050" dirty="0">
                <a:solidFill>
                  <a:srgbClr val="FFFFFF"/>
                </a:solidFill>
                <a:latin typeface="Menlo"/>
                <a:ea typeface="Menlo"/>
                <a:cs typeface="Menlo"/>
              </a:rPr>
              <a:t>(</a:t>
            </a:r>
            <a:r>
              <a:rPr lang="en-US" altLang="ja-JP" sz="1050" dirty="0" err="1">
                <a:solidFill>
                  <a:srgbClr val="FFFFFF"/>
                </a:solidFill>
                <a:latin typeface="Menlo"/>
                <a:ea typeface="Menlo"/>
                <a:cs typeface="Menlo"/>
              </a:rPr>
              <a:t>carId</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UpgradeStat.Accel</a:t>
            </a:r>
            <a:r>
              <a:rPr lang="en-US" altLang="ja-JP" sz="1050" dirty="0">
                <a:solidFill>
                  <a:srgbClr val="FFFFFF"/>
                </a:solidFill>
                <a:latin typeface="Menlo"/>
                <a:ea typeface="Menlo"/>
                <a:cs typeface="Menlo"/>
              </a:rPr>
              <a:t>, </a:t>
            </a:r>
            <a:r>
              <a:rPr lang="en-US" altLang="ja-JP" sz="1050" dirty="0" err="1">
                <a:solidFill>
                  <a:srgbClr val="FFFFFF"/>
                </a:solidFill>
                <a:latin typeface="Menlo"/>
                <a:ea typeface="Menlo"/>
                <a:cs typeface="Menlo"/>
              </a:rPr>
              <a:t>msg.value</a:t>
            </a: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a:t>
            </a:r>
          </a:p>
          <a:p>
            <a:pPr>
              <a:defRPr sz="863" b="0">
                <a:solidFill>
                  <a:srgbClr val="FFFFFF"/>
                </a:solidFill>
                <a:latin typeface="Menlo"/>
                <a:ea typeface="Menlo"/>
                <a:cs typeface="Menlo"/>
              </a:defRPr>
            </a:pPr>
            <a:endParaRPr lang="en-US" altLang="ja-JP" sz="1050" dirty="0">
              <a:solidFill>
                <a:srgbClr val="FFFFFF"/>
              </a:solidFill>
              <a:latin typeface="Menlo"/>
              <a:ea typeface="Menlo"/>
              <a:cs typeface="Menlo"/>
            </a:endParaRPr>
          </a:p>
          <a:p>
            <a:pPr>
              <a:defRPr sz="863" b="0">
                <a:solidFill>
                  <a:srgbClr val="FFFFFF"/>
                </a:solidFill>
                <a:latin typeface="Menlo"/>
                <a:ea typeface="Menlo"/>
                <a:cs typeface="Menlo"/>
              </a:defRPr>
            </a:pPr>
            <a:r>
              <a:rPr lang="en-US" altLang="ja-JP" sz="1050" dirty="0">
                <a:solidFill>
                  <a:srgbClr val="FFFFFF"/>
                </a:solidFill>
                <a:latin typeface="Menlo"/>
                <a:ea typeface="Menlo"/>
                <a:cs typeface="Menlo"/>
              </a:rPr>
              <a:t>require(paid == UPGRADE_FEE, "Upgrade costs exactly 0.003 ETH");</a:t>
            </a:r>
          </a:p>
        </p:txBody>
      </p:sp>
      <p:sp>
        <p:nvSpPr>
          <p:cNvPr id="41" name="正方形/長方形 40">
            <a:extLst>
              <a:ext uri="{FF2B5EF4-FFF2-40B4-BE49-F238E27FC236}">
                <a16:creationId xmlns:a16="http://schemas.microsoft.com/office/drawing/2014/main" id="{2C243278-7264-43F9-8859-CBC6A41BD411}"/>
              </a:ext>
            </a:extLst>
          </p:cNvPr>
          <p:cNvSpPr>
            <a:spLocks noGrp="1"/>
          </p:cNvSpPr>
          <p:nvPr/>
        </p:nvSpPr>
        <p:spPr>
          <a:xfrm>
            <a:off x="7848600" y="2266950"/>
            <a:ext cx="2895600" cy="1390650"/>
          </a:xfrm>
          <a:prstGeom prst="rect">
            <a:avLst/>
          </a:prstGeom>
          <a:solidFill>
            <a:srgbClr val="FFF2CC"/>
          </a:solidFill>
          <a:ln w="11430">
            <a:solidFill>
              <a:srgbClr val="1D2733"/>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3A119D08-4C66-4A0D-A7F4-FDAF8E7FA453}"/>
              </a:ext>
            </a:extLst>
          </p:cNvPr>
          <p:cNvSpPr>
            <a:spLocks noGrp="1"/>
          </p:cNvSpPr>
          <p:nvPr/>
        </p:nvSpPr>
        <p:spPr>
          <a:xfrm>
            <a:off x="8020050" y="2438400"/>
            <a:ext cx="2552700" cy="1009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ここでクリア</a:t>
            </a:r>
          </a:p>
          <a:p>
            <a:endParaRPr sz="1275" b="1">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`payable` があるので、このfunctionはETHを受け取れます。</a:t>
            </a:r>
          </a:p>
        </p:txBody>
      </p:sp>
      <p:sp>
        <p:nvSpPr>
          <p:cNvPr id="43" name="正方形/長方形 42">
            <a:extLst>
              <a:ext uri="{FF2B5EF4-FFF2-40B4-BE49-F238E27FC236}">
                <a16:creationId xmlns:a16="http://schemas.microsoft.com/office/drawing/2014/main" id="{DDEBEAAB-323B-4A8E-9008-8CD88CF18C47}"/>
              </a:ext>
            </a:extLst>
          </p:cNvPr>
          <p:cNvSpPr>
            <a:spLocks noGrp="1"/>
          </p:cNvSpPr>
          <p:nvPr/>
        </p:nvSpPr>
        <p:spPr>
          <a:xfrm>
            <a:off x="7886700" y="4057650"/>
            <a:ext cx="27813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D2733"/>
                </a:solidFill>
                <a:latin typeface="Hiragino Sans"/>
                <a:ea typeface="Hiragino Sans"/>
                <a:cs typeface="Hiragino Sans"/>
              </a:defRPr>
            </a:pPr>
            <a:r>
              <a:rPr sz="1200" b="0">
                <a:solidFill>
                  <a:srgbClr val="1D2733"/>
                </a:solidFill>
                <a:latin typeface="Hiragino Sans"/>
                <a:ea typeface="Hiragino Sans"/>
                <a:cs typeface="Hiragino Sans"/>
              </a:rPr>
              <a:t>Control / Speed / Accel の3種類を強化できます。金額は分かりやすく全部 0.003 ETH にしました。</a:t>
            </a:r>
          </a:p>
        </p:txBody>
      </p:sp>
      <p:sp>
        <p:nvSpPr>
          <p:cNvPr id="44" name="正方形/長方形 43">
            <a:extLst>
              <a:ext uri="{FF2B5EF4-FFF2-40B4-BE49-F238E27FC236}">
                <a16:creationId xmlns:a16="http://schemas.microsoft.com/office/drawing/2014/main" id="{C5BF2CD0-174A-40C0-8973-27B074899198}"/>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RaceForgeCampaign.sol lines 24, 89-103, 181</a:t>
            </a:r>
          </a:p>
        </p:txBody>
      </p:sp>
      <p:sp>
        <p:nvSpPr>
          <p:cNvPr id="45" name="正方形/長方形 44">
            <a:extLst>
              <a:ext uri="{FF2B5EF4-FFF2-40B4-BE49-F238E27FC236}">
                <a16:creationId xmlns:a16="http://schemas.microsoft.com/office/drawing/2014/main" id="{F74C2ABD-4975-4A0C-B9CE-8BBF6A35249D}"/>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06</a:t>
            </a:r>
          </a:p>
        </p:txBody>
      </p:sp>
    </p:spTree>
    <p:extLst>
      <p:ext uri="{BB962C8B-B14F-4D97-AF65-F5344CB8AC3E}">
        <p14:creationId xmlns:p14="http://schemas.microsoft.com/office/powerpoint/2010/main" val="140356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E0768373-FF4C-4053-8A75-9AB1DABF6151}"/>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03340F99-A91B-47E5-9073-E8ED448F8897}"/>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19B8EAC2-F3A2-4AFE-8AA0-2E10CD1F9DC7}"/>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229E3588-DC9F-4EB4-B3BB-7B3BDD7AD169}"/>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5F92DC83-DA67-4061-B2B3-85B71035EDD3}"/>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9F9C11D9-7329-40E1-94B5-AAF60C362BDC}"/>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7C973709-130E-4106-93AE-45AD3C679F70}"/>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31A803FD-F368-49BC-86E9-6C190E687509}"/>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36ADD2BE-8268-4623-B9AF-0B53CB5B769B}"/>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2CCF30BF-D201-4C4C-BEE9-00986B8FE785}"/>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4851F74B-190E-471C-B8A7-0D715BC2DDFD}"/>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EA716202-48F9-49FA-A954-6E565B7F3E4B}"/>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DA2F1C24-EB01-4047-8CAB-A2505FAEC0E4}"/>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FAF109D0-FE3F-4B06-B5B2-55450274BB02}"/>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B658EC40-1B77-456F-81D9-59EBB07C03F8}"/>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DC9E417A-A161-42BC-89B5-7F2EB308A1A6}"/>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6BE94D2-4320-454D-8A8E-24B3254649CA}"/>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A438DEA4-74EB-4895-99BC-4FEC99BA9779}"/>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C23253CC-4A54-494E-9461-74C8F86A46CB}"/>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6F961A3D-DA0B-47E9-9EB2-574B2E4C8CCB}"/>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59170B4F-8BEE-420F-B3F4-E55F3678046F}"/>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2AA8C89F-4282-4424-A92F-AC1326B5D998}"/>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61946FB3-0A5C-404F-95B4-2FD87B8C570B}"/>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158D771A-C2DA-4BFE-9E10-034B957F673B}"/>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5B35F286-D939-4772-BEBB-D6D48E379FF3}"/>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443922B3-9252-41B1-895B-A483169360A0}"/>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72EB46B5-0866-4F12-8BF1-ABE8529FD796}"/>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99F46BB4-25E8-4EAA-9E4B-E6C68EE400F6}"/>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63ED3993-FB58-4E09-A61F-6261B092605A}"/>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30530341-1BC2-4BB8-84DF-46FC2B7A5C63}"/>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A5DF853D-BC85-40A1-A0FA-95146DBAD9EC}"/>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EBC918B3-448C-4849-939A-9131701E9233}"/>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0A238BAC-D279-4459-A201-4D679E70A46E}"/>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DA9954B7-EB43-4F47-9875-5171C5CFC9F6}"/>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DC4A09FB-C257-4786-9BDD-13A3FD8539C1}"/>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要件4: Eventで操作結果を残す</a:t>
            </a:r>
          </a:p>
        </p:txBody>
      </p:sp>
      <p:sp>
        <p:nvSpPr>
          <p:cNvPr id="36" name="正方形/長方形 35">
            <a:extLst>
              <a:ext uri="{FF2B5EF4-FFF2-40B4-BE49-F238E27FC236}">
                <a16:creationId xmlns:a16="http://schemas.microsoft.com/office/drawing/2014/main" id="{E674C4B8-CB94-437D-ACFA-14AFA2B866C1}"/>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誰が強化したかを後から確認できるようにしました。</a:t>
            </a:r>
          </a:p>
        </p:txBody>
      </p:sp>
      <p:sp>
        <p:nvSpPr>
          <p:cNvPr id="37" name="正方形/長方形 36">
            <a:extLst>
              <a:ext uri="{FF2B5EF4-FFF2-40B4-BE49-F238E27FC236}">
                <a16:creationId xmlns:a16="http://schemas.microsoft.com/office/drawing/2014/main" id="{49A7C067-6ADF-45C6-BE7F-3B8D3C3BC2B6}"/>
              </a:ext>
            </a:extLst>
          </p:cNvPr>
          <p:cNvSpPr>
            <a:spLocks noGrp="1"/>
          </p:cNvSpPr>
          <p:nvPr/>
        </p:nvSpPr>
        <p:spPr>
          <a:xfrm>
            <a:off x="778823" y="1714500"/>
            <a:ext cx="1047750" cy="304800"/>
          </a:xfrm>
          <a:prstGeom prst="rect">
            <a:avLst/>
          </a:prstGeom>
          <a:solidFill>
            <a:srgbClr val="FFE37A"/>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78D8C536-93FF-4531-BE9D-F9AECD3449CA}"/>
              </a:ext>
            </a:extLst>
          </p:cNvPr>
          <p:cNvSpPr>
            <a:spLocks noGrp="1"/>
          </p:cNvSpPr>
          <p:nvPr/>
        </p:nvSpPr>
        <p:spPr>
          <a:xfrm>
            <a:off x="874073" y="1781175"/>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1050" b="1" dirty="0">
                <a:solidFill>
                  <a:srgbClr val="1D2733"/>
                </a:solidFill>
                <a:latin typeface="Avenir Next"/>
                <a:ea typeface="Avenir Next"/>
                <a:cs typeface="Avenir Next"/>
              </a:rPr>
              <a:t>要件4</a:t>
            </a:r>
          </a:p>
        </p:txBody>
      </p:sp>
      <p:sp>
        <p:nvSpPr>
          <p:cNvPr id="39" name="正方形/長方形 38">
            <a:extLst>
              <a:ext uri="{FF2B5EF4-FFF2-40B4-BE49-F238E27FC236}">
                <a16:creationId xmlns:a16="http://schemas.microsoft.com/office/drawing/2014/main" id="{B40506ED-D425-4081-A29A-1CAADE667129}"/>
              </a:ext>
            </a:extLst>
          </p:cNvPr>
          <p:cNvSpPr>
            <a:spLocks noGrp="1"/>
          </p:cNvSpPr>
          <p:nvPr/>
        </p:nvSpPr>
        <p:spPr>
          <a:xfrm>
            <a:off x="781050" y="2095500"/>
            <a:ext cx="6667500" cy="4000500"/>
          </a:xfrm>
          <a:prstGeom prst="rect">
            <a:avLst/>
          </a:prstGeom>
          <a:solidFill>
            <a:srgbClr val="17202C"/>
          </a:solidFill>
          <a:ln w="11430">
            <a:solidFill>
              <a:srgbClr val="2E3B4A"/>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9B856881-81D0-4FDC-8110-42798C89417E}"/>
              </a:ext>
            </a:extLst>
          </p:cNvPr>
          <p:cNvSpPr>
            <a:spLocks noGrp="1"/>
          </p:cNvSpPr>
          <p:nvPr/>
        </p:nvSpPr>
        <p:spPr>
          <a:xfrm>
            <a:off x="952500" y="2266950"/>
            <a:ext cx="6324600" cy="3676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40" b="0">
                <a:solidFill>
                  <a:srgbClr val="FFFFFF"/>
                </a:solidFill>
                <a:latin typeface="Menlo"/>
                <a:ea typeface="Menlo"/>
                <a:cs typeface="Menlo"/>
              </a:defRPr>
            </a:pPr>
            <a:r>
              <a:rPr sz="840" b="0" dirty="0">
                <a:solidFill>
                  <a:srgbClr val="FFFFFF"/>
                </a:solidFill>
                <a:latin typeface="Menlo"/>
                <a:ea typeface="Menlo"/>
                <a:cs typeface="Menlo"/>
              </a:rPr>
              <a:t>event </a:t>
            </a:r>
            <a:r>
              <a:rPr sz="840" b="0" dirty="0" err="1">
                <a:solidFill>
                  <a:srgbClr val="FFFFFF"/>
                </a:solidFill>
                <a:latin typeface="Menlo"/>
                <a:ea typeface="Menlo"/>
                <a:cs typeface="Menlo"/>
              </a:rPr>
              <a:t>CarUpgraded</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address indexed user,</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indexed </a:t>
            </a:r>
            <a:r>
              <a:rPr sz="840" b="0" dirty="0" err="1">
                <a:solidFill>
                  <a:srgbClr val="FFFFFF"/>
                </a:solidFill>
                <a:latin typeface="Menlo"/>
                <a:ea typeface="Menlo"/>
                <a:cs typeface="Menlo"/>
              </a:rPr>
              <a:t>carId</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a:t>
            </a:r>
            <a:r>
              <a:rPr sz="840" b="0" dirty="0" err="1">
                <a:solidFill>
                  <a:srgbClr val="FFFFFF"/>
                </a:solidFill>
                <a:latin typeface="Menlo"/>
                <a:ea typeface="Menlo"/>
                <a:cs typeface="Menlo"/>
              </a:rPr>
              <a:t>UpgradeStat</a:t>
            </a:r>
            <a:r>
              <a:rPr sz="840" b="0" dirty="0">
                <a:solidFill>
                  <a:srgbClr val="FFFFFF"/>
                </a:solidFill>
                <a:latin typeface="Menlo"/>
                <a:ea typeface="Menlo"/>
                <a:cs typeface="Menlo"/>
              </a:rPr>
              <a:t> indexed stat,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a:t>
            </a:r>
            <a:r>
              <a:rPr sz="840" b="0" dirty="0" err="1">
                <a:solidFill>
                  <a:srgbClr val="FFFFFF"/>
                </a:solidFill>
                <a:latin typeface="Menlo"/>
                <a:ea typeface="Menlo"/>
                <a:cs typeface="Menlo"/>
              </a:rPr>
              <a:t>newLevel</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paid</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a:t>
            </a:r>
          </a:p>
          <a:p>
            <a:endParaRPr sz="840" b="0" dirty="0">
              <a:solidFill>
                <a:srgbClr val="FFFFFF"/>
              </a:solidFill>
              <a:latin typeface="Menlo"/>
              <a:ea typeface="Menlo"/>
              <a:cs typeface="Menlo"/>
            </a:endParaRPr>
          </a:p>
          <a:p>
            <a:pPr algn="l">
              <a:defRPr sz="840" b="0">
                <a:solidFill>
                  <a:srgbClr val="FFFFFF"/>
                </a:solidFill>
                <a:latin typeface="Menlo"/>
                <a:ea typeface="Menlo"/>
                <a:cs typeface="Menlo"/>
              </a:defRPr>
            </a:pPr>
            <a:r>
              <a:rPr sz="840" b="0" dirty="0">
                <a:solidFill>
                  <a:srgbClr val="FFFFFF"/>
                </a:solidFill>
                <a:latin typeface="Menlo"/>
                <a:ea typeface="Menlo"/>
                <a:cs typeface="Menlo"/>
              </a:rPr>
              <a:t>event </a:t>
            </a:r>
            <a:r>
              <a:rPr sz="840" b="0" dirty="0" err="1">
                <a:solidFill>
                  <a:srgbClr val="FFFFFF"/>
                </a:solidFill>
                <a:latin typeface="Menlo"/>
                <a:ea typeface="Menlo"/>
                <a:cs typeface="Menlo"/>
              </a:rPr>
              <a:t>RaceResultRecorded</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address indexed user,</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indexed </a:t>
            </a:r>
            <a:r>
              <a:rPr sz="840" b="0" dirty="0" err="1">
                <a:solidFill>
                  <a:srgbClr val="FFFFFF"/>
                </a:solidFill>
                <a:latin typeface="Menlo"/>
                <a:ea typeface="Menlo"/>
                <a:cs typeface="Menlo"/>
              </a:rPr>
              <a:t>carId</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indexed day,</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bool won,</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a:t>
            </a:r>
            <a:r>
              <a:rPr sz="840" b="0" dirty="0" err="1">
                <a:solidFill>
                  <a:srgbClr val="FFFFFF"/>
                </a:solidFill>
                <a:latin typeface="Menlo"/>
                <a:ea typeface="Menlo"/>
                <a:cs typeface="Menlo"/>
              </a:rPr>
              <a:t>finishingPosition</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a:t>
            </a:r>
            <a:r>
              <a:rPr sz="840" b="0" dirty="0" err="1">
                <a:solidFill>
                  <a:srgbClr val="FFFFFF"/>
                </a:solidFill>
                <a:latin typeface="Menlo"/>
                <a:ea typeface="Menlo"/>
                <a:cs typeface="Menlo"/>
              </a:rPr>
              <a:t>controlLevel</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a:t>
            </a:r>
            <a:r>
              <a:rPr sz="840" b="0" dirty="0" err="1">
                <a:solidFill>
                  <a:srgbClr val="FFFFFF"/>
                </a:solidFill>
                <a:latin typeface="Menlo"/>
                <a:ea typeface="Menlo"/>
                <a:cs typeface="Menlo"/>
              </a:rPr>
              <a:t>speedLevel</a:t>
            </a:r>
            <a:r>
              <a:rPr sz="840" b="0" dirty="0">
                <a:solidFill>
                  <a:srgbClr val="FFFFFF"/>
                </a:solidFill>
                <a:latin typeface="Menlo"/>
                <a:ea typeface="Menlo"/>
                <a:cs typeface="Menlo"/>
              </a:rPr>
              <a:t>,</a:t>
            </a:r>
          </a:p>
          <a:p>
            <a:pPr algn="l">
              <a:defRPr sz="840" b="0">
                <a:solidFill>
                  <a:srgbClr val="FFFFFF"/>
                </a:solidFill>
                <a:latin typeface="Menlo"/>
                <a:ea typeface="Menlo"/>
                <a:cs typeface="Menlo"/>
              </a:defRPr>
            </a:pPr>
            <a:r>
              <a:rPr sz="840" b="0" dirty="0">
                <a:solidFill>
                  <a:srgbClr val="FFFFFF"/>
                </a:solidFill>
                <a:latin typeface="Menlo"/>
                <a:ea typeface="Menlo"/>
                <a:cs typeface="Menlo"/>
              </a:rPr>
              <a:t>    uint256 </a:t>
            </a:r>
            <a:r>
              <a:rPr sz="840" b="0" dirty="0" err="1">
                <a:solidFill>
                  <a:srgbClr val="FFFFFF"/>
                </a:solidFill>
                <a:latin typeface="Menlo"/>
                <a:ea typeface="Menlo"/>
                <a:cs typeface="Menlo"/>
              </a:rPr>
              <a:t>accelLevel</a:t>
            </a:r>
            <a:endParaRPr sz="840" b="0" dirty="0">
              <a:solidFill>
                <a:srgbClr val="FFFFFF"/>
              </a:solidFill>
              <a:latin typeface="Menlo"/>
              <a:ea typeface="Menlo"/>
              <a:cs typeface="Menlo"/>
            </a:endParaRPr>
          </a:p>
          <a:p>
            <a:pPr algn="l">
              <a:defRPr sz="840" b="0">
                <a:solidFill>
                  <a:srgbClr val="FFFFFF"/>
                </a:solidFill>
                <a:latin typeface="Menlo"/>
                <a:ea typeface="Menlo"/>
                <a:cs typeface="Menlo"/>
              </a:defRPr>
            </a:pPr>
            <a:r>
              <a:rPr sz="840" b="0" dirty="0">
                <a:solidFill>
                  <a:srgbClr val="FFFFFF"/>
                </a:solidFill>
                <a:latin typeface="Menlo"/>
                <a:ea typeface="Menlo"/>
                <a:cs typeface="Menlo"/>
              </a:rPr>
              <a:t>);</a:t>
            </a:r>
          </a:p>
          <a:p>
            <a:endParaRPr sz="840" b="0" dirty="0">
              <a:solidFill>
                <a:srgbClr val="FFFFFF"/>
              </a:solidFill>
              <a:latin typeface="Menlo"/>
              <a:ea typeface="Menlo"/>
              <a:cs typeface="Menlo"/>
            </a:endParaRPr>
          </a:p>
          <a:p>
            <a:pPr algn="l">
              <a:defRPr sz="840" b="0">
                <a:solidFill>
                  <a:srgbClr val="FFFFFF"/>
                </a:solidFill>
                <a:latin typeface="Menlo"/>
                <a:ea typeface="Menlo"/>
                <a:cs typeface="Menlo"/>
              </a:defRPr>
            </a:pPr>
            <a:r>
              <a:rPr sz="840" b="0" dirty="0">
                <a:solidFill>
                  <a:srgbClr val="FFFFFF"/>
                </a:solidFill>
                <a:latin typeface="Menlo"/>
                <a:ea typeface="Menlo"/>
                <a:cs typeface="Menlo"/>
              </a:rPr>
              <a:t>emit </a:t>
            </a:r>
            <a:r>
              <a:rPr sz="840" b="0" dirty="0" err="1">
                <a:solidFill>
                  <a:srgbClr val="FFFFFF"/>
                </a:solidFill>
                <a:latin typeface="Menlo"/>
                <a:ea typeface="Menlo"/>
                <a:cs typeface="Menlo"/>
              </a:rPr>
              <a:t>CarUpgraded</a:t>
            </a:r>
            <a:r>
              <a:rPr sz="840" b="0" dirty="0">
                <a:solidFill>
                  <a:srgbClr val="FFFFFF"/>
                </a:solidFill>
                <a:latin typeface="Menlo"/>
                <a:ea typeface="Menlo"/>
                <a:cs typeface="Menlo"/>
              </a:rPr>
              <a:t>(</a:t>
            </a:r>
            <a:r>
              <a:rPr sz="840" b="0" dirty="0" err="1">
                <a:solidFill>
                  <a:srgbClr val="FFFFFF"/>
                </a:solidFill>
                <a:latin typeface="Menlo"/>
                <a:ea typeface="Menlo"/>
                <a:cs typeface="Menlo"/>
              </a:rPr>
              <a:t>msg.sender</a:t>
            </a:r>
            <a:r>
              <a:rPr sz="840" b="0" dirty="0">
                <a:solidFill>
                  <a:srgbClr val="FFFFFF"/>
                </a:solidFill>
                <a:latin typeface="Menlo"/>
                <a:ea typeface="Menlo"/>
                <a:cs typeface="Menlo"/>
              </a:rPr>
              <a:t>, </a:t>
            </a:r>
            <a:r>
              <a:rPr sz="840" b="0" dirty="0" err="1">
                <a:solidFill>
                  <a:srgbClr val="FFFFFF"/>
                </a:solidFill>
                <a:latin typeface="Menlo"/>
                <a:ea typeface="Menlo"/>
                <a:cs typeface="Menlo"/>
              </a:rPr>
              <a:t>carId</a:t>
            </a:r>
            <a:r>
              <a:rPr sz="840" b="0" dirty="0">
                <a:solidFill>
                  <a:srgbClr val="FFFFFF"/>
                </a:solidFill>
                <a:latin typeface="Menlo"/>
                <a:ea typeface="Menlo"/>
                <a:cs typeface="Menlo"/>
              </a:rPr>
              <a:t>, stat, </a:t>
            </a:r>
            <a:r>
              <a:rPr sz="840" b="0" dirty="0" err="1">
                <a:solidFill>
                  <a:srgbClr val="FFFFFF"/>
                </a:solidFill>
                <a:latin typeface="Menlo"/>
                <a:ea typeface="Menlo"/>
                <a:cs typeface="Menlo"/>
              </a:rPr>
              <a:t>newLevel</a:t>
            </a:r>
            <a:r>
              <a:rPr sz="840" b="0" dirty="0">
                <a:solidFill>
                  <a:srgbClr val="FFFFFF"/>
                </a:solidFill>
                <a:latin typeface="Menlo"/>
                <a:ea typeface="Menlo"/>
                <a:cs typeface="Menlo"/>
              </a:rPr>
              <a:t>, paid);</a:t>
            </a:r>
          </a:p>
        </p:txBody>
      </p:sp>
      <p:sp>
        <p:nvSpPr>
          <p:cNvPr id="41" name="正方形/長方形 40">
            <a:extLst>
              <a:ext uri="{FF2B5EF4-FFF2-40B4-BE49-F238E27FC236}">
                <a16:creationId xmlns:a16="http://schemas.microsoft.com/office/drawing/2014/main" id="{E3057840-63DB-4086-A370-41A599D5C21B}"/>
              </a:ext>
            </a:extLst>
          </p:cNvPr>
          <p:cNvSpPr>
            <a:spLocks noGrp="1"/>
          </p:cNvSpPr>
          <p:nvPr/>
        </p:nvSpPr>
        <p:spPr>
          <a:xfrm>
            <a:off x="7848600" y="2266950"/>
            <a:ext cx="2895600" cy="1371600"/>
          </a:xfrm>
          <a:prstGeom prst="rect">
            <a:avLst/>
          </a:prstGeom>
          <a:solidFill>
            <a:srgbClr val="FFF6B8"/>
          </a:solidFill>
          <a:ln w="11430">
            <a:solidFill>
              <a:srgbClr val="1D2733"/>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B2DB3B85-E3FC-48A8-9EE5-B10CFFEFF371}"/>
              </a:ext>
            </a:extLst>
          </p:cNvPr>
          <p:cNvSpPr>
            <a:spLocks noGrp="1"/>
          </p:cNvSpPr>
          <p:nvPr/>
        </p:nvSpPr>
        <p:spPr>
          <a:xfrm>
            <a:off x="8020050" y="2438400"/>
            <a:ext cx="2552700" cy="990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ここでクリア</a:t>
            </a:r>
          </a:p>
          <a:p>
            <a:endParaRPr sz="1275" b="1">
              <a:solidFill>
                <a:srgbClr val="1D2733"/>
              </a:solidFill>
              <a:latin typeface="Hiragino Sans"/>
              <a:ea typeface="Hiragino Sans"/>
              <a:cs typeface="Hiragino Sans"/>
            </a:endParaRPr>
          </a:p>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Eventを作り、強化したときに `emit` しています。</a:t>
            </a:r>
          </a:p>
        </p:txBody>
      </p:sp>
      <p:sp>
        <p:nvSpPr>
          <p:cNvPr id="43" name="正方形/長方形 42">
            <a:extLst>
              <a:ext uri="{FF2B5EF4-FFF2-40B4-BE49-F238E27FC236}">
                <a16:creationId xmlns:a16="http://schemas.microsoft.com/office/drawing/2014/main" id="{1D5A4562-BAD0-43A6-A471-B0BD5279F03E}"/>
              </a:ext>
            </a:extLst>
          </p:cNvPr>
          <p:cNvSpPr>
            <a:spLocks noGrp="1"/>
          </p:cNvSpPr>
          <p:nvPr/>
        </p:nvSpPr>
        <p:spPr>
          <a:xfrm>
            <a:off x="7886700" y="4038600"/>
            <a:ext cx="27813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1D2733"/>
                </a:solidFill>
                <a:latin typeface="Hiragino Sans"/>
                <a:ea typeface="Hiragino Sans"/>
                <a:cs typeface="Hiragino Sans"/>
              </a:defRPr>
            </a:pPr>
            <a:r>
              <a:rPr sz="1200" b="0">
                <a:solidFill>
                  <a:srgbClr val="1D2733"/>
                </a:solidFill>
                <a:latin typeface="Hiragino Sans"/>
                <a:ea typeface="Hiragino Sans"/>
                <a:cs typeface="Hiragino Sans"/>
              </a:rPr>
              <a:t>`address indexed user` にしたので、ユーザーのウォレットアドレスで検索しやすくなっています。</a:t>
            </a:r>
          </a:p>
        </p:txBody>
      </p:sp>
      <p:sp>
        <p:nvSpPr>
          <p:cNvPr id="44" name="正方形/長方形 43">
            <a:extLst>
              <a:ext uri="{FF2B5EF4-FFF2-40B4-BE49-F238E27FC236}">
                <a16:creationId xmlns:a16="http://schemas.microsoft.com/office/drawing/2014/main" id="{924DE4C9-E650-4FBE-B3B1-0D2D3C4242C9}"/>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RaceForgeCampaign.sol lines 41-58, 201-224</a:t>
            </a:r>
          </a:p>
        </p:txBody>
      </p:sp>
      <p:sp>
        <p:nvSpPr>
          <p:cNvPr id="45" name="正方形/長方形 44">
            <a:extLst>
              <a:ext uri="{FF2B5EF4-FFF2-40B4-BE49-F238E27FC236}">
                <a16:creationId xmlns:a16="http://schemas.microsoft.com/office/drawing/2014/main" id="{CCF694D0-A7F6-41D0-A304-A49556399F35}"/>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07</a:t>
            </a:r>
          </a:p>
        </p:txBody>
      </p:sp>
    </p:spTree>
    <p:extLst>
      <p:ext uri="{BB962C8B-B14F-4D97-AF65-F5344CB8AC3E}">
        <p14:creationId xmlns:p14="http://schemas.microsoft.com/office/powerpoint/2010/main" val="59137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正方形/長方形 49">
            <a:extLst>
              <a:ext uri="{FF2B5EF4-FFF2-40B4-BE49-F238E27FC236}">
                <a16:creationId xmlns:a16="http://schemas.microsoft.com/office/drawing/2014/main" id="{39D0A2C4-0428-49DA-974C-351085C3D244}"/>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FFB9535-29F2-416B-ACB8-A14B6BB9F912}"/>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147FEB72-CF10-4810-A1A4-2404A381951A}"/>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9FE93E10-29DE-41AA-B61E-65B6068BC9FE}"/>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4950A845-6E71-435D-9FF5-EDB12E0B3DA7}"/>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08A929BD-1E73-4EEE-A513-2D0955920FC0}"/>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351A051F-1DDA-4DF6-9301-29CE5C30997E}"/>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28178A06-EFF5-4C9E-8E5F-1F6136AAD896}"/>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4D93E712-52CE-47CE-9DEA-08C34E0A1D8E}"/>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A5A00F7A-E240-4841-9686-3D9CD5FCC08B}"/>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BE19A8F5-85E2-45FB-AE75-A7BEF4F0DCE1}"/>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4796859B-DB6B-4F90-BDC9-427E12128075}"/>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A74553BC-60D2-4824-A38A-DC7F1151B406}"/>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94B0E4DB-09C7-4D7F-8F80-B879CE3EB3B1}"/>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8D710706-2DFB-4049-A45A-3A4949EDBCE4}"/>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3674D53C-E260-4A0D-B73A-BB1CBB875F8B}"/>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C892FBE-6DDF-44F2-8079-5B26A72B9B24}"/>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E12960F2-F706-402A-82B0-DD0C0447D8F3}"/>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623713DF-A351-4461-B171-569F66EB3147}"/>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0F6C70FA-882B-4750-A0F6-A78C1F7EE17B}"/>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0BC9B735-E5FD-4929-8937-750B124F1018}"/>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70D4F1F1-7082-4B3C-9512-BCA68467E762}"/>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C70B066A-CDA5-42F2-A7CB-6AFD0A4121AA}"/>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96E0B841-698B-4EB7-8009-85B08C364F6A}"/>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CC50B4BE-7EEA-4DBF-8AEA-52980FFB7211}"/>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FC52BBA5-502F-45BB-93E0-7F42F20C66B1}"/>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576409F7-71B5-406B-932D-A4B6F83FC10B}"/>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46DFBD49-1894-4CC4-B5AD-77ED2B69CADC}"/>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800ACEEF-D69A-46FF-8F3D-952996C22F5D}"/>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FA382D74-61CF-4257-AF6E-081AD5302868}"/>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DAE97714-FD9C-486A-B473-5D0F1449FA1C}"/>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BE05D371-1A55-4FDD-A4E8-A4CB72C6B872}"/>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533558DD-A920-4081-8200-56055F14E21C}"/>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A0BAAB19-56B7-4232-85E4-B2023C418E20}"/>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E2888B07-FF9C-46FB-AAD5-9E9C088B0DD1}"/>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要件5: Sepoliaテストネットにデプロイ</a:t>
            </a:r>
          </a:p>
        </p:txBody>
      </p:sp>
      <p:sp>
        <p:nvSpPr>
          <p:cNvPr id="36" name="正方形/長方形 35">
            <a:extLst>
              <a:ext uri="{FF2B5EF4-FFF2-40B4-BE49-F238E27FC236}">
                <a16:creationId xmlns:a16="http://schemas.microsoft.com/office/drawing/2014/main" id="{16CC1625-401E-4850-BE62-7A59B7170F3D}"/>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作ったコントラクトをSepoliaに公開しました。</a:t>
            </a:r>
          </a:p>
        </p:txBody>
      </p:sp>
      <p:sp>
        <p:nvSpPr>
          <p:cNvPr id="37" name="正方形/長方形 36">
            <a:extLst>
              <a:ext uri="{FF2B5EF4-FFF2-40B4-BE49-F238E27FC236}">
                <a16:creationId xmlns:a16="http://schemas.microsoft.com/office/drawing/2014/main" id="{28B8437B-CB72-46A0-8CC7-BD57DFBC8A5E}"/>
              </a:ext>
            </a:extLst>
          </p:cNvPr>
          <p:cNvSpPr>
            <a:spLocks noGrp="1"/>
          </p:cNvSpPr>
          <p:nvPr/>
        </p:nvSpPr>
        <p:spPr>
          <a:xfrm>
            <a:off x="685800" y="1790700"/>
            <a:ext cx="1047750" cy="304800"/>
          </a:xfrm>
          <a:prstGeom prst="rect">
            <a:avLst/>
          </a:prstGeom>
          <a:solidFill>
            <a:srgbClr val="2F80ED"/>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5DBE9FA5-D253-4EEE-B495-374B24124D42}"/>
              </a:ext>
            </a:extLst>
          </p:cNvPr>
          <p:cNvSpPr>
            <a:spLocks noGrp="1"/>
          </p:cNvSpPr>
          <p:nvPr/>
        </p:nvSpPr>
        <p:spPr>
          <a:xfrm>
            <a:off x="781050" y="1857375"/>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825" b="1">
                <a:solidFill>
                  <a:srgbClr val="1D2733"/>
                </a:solidFill>
                <a:latin typeface="Avenir Next"/>
                <a:ea typeface="Avenir Next"/>
                <a:cs typeface="Avenir Next"/>
              </a:rPr>
              <a:t>要件5</a:t>
            </a:r>
          </a:p>
        </p:txBody>
      </p:sp>
      <p:sp>
        <p:nvSpPr>
          <p:cNvPr id="39" name="正方形/長方形 38">
            <a:extLst>
              <a:ext uri="{FF2B5EF4-FFF2-40B4-BE49-F238E27FC236}">
                <a16:creationId xmlns:a16="http://schemas.microsoft.com/office/drawing/2014/main" id="{4D247D3B-85E5-4536-B3A9-8E4C39562182}"/>
              </a:ext>
            </a:extLst>
          </p:cNvPr>
          <p:cNvSpPr>
            <a:spLocks noGrp="1"/>
          </p:cNvSpPr>
          <p:nvPr/>
        </p:nvSpPr>
        <p:spPr>
          <a:xfrm>
            <a:off x="876300" y="2381250"/>
            <a:ext cx="1809750" cy="628650"/>
          </a:xfrm>
          <a:prstGeom prst="rect">
            <a:avLst/>
          </a:prstGeom>
          <a:solidFill>
            <a:srgbClr val="DDF7FF"/>
          </a:solidFill>
          <a:ln w="11430">
            <a:solidFill>
              <a:srgbClr val="1D2733"/>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17EEC4DC-FBD3-4DD5-AB23-C3625244D8A9}"/>
              </a:ext>
            </a:extLst>
          </p:cNvPr>
          <p:cNvSpPr>
            <a:spLocks noGrp="1"/>
          </p:cNvSpPr>
          <p:nvPr/>
        </p:nvSpPr>
        <p:spPr>
          <a:xfrm>
            <a:off x="1047750" y="2552700"/>
            <a:ext cx="14668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デプロイ結果</a:t>
            </a:r>
          </a:p>
        </p:txBody>
      </p:sp>
      <p:sp>
        <p:nvSpPr>
          <p:cNvPr id="41" name="正方形/長方形 40">
            <a:extLst>
              <a:ext uri="{FF2B5EF4-FFF2-40B4-BE49-F238E27FC236}">
                <a16:creationId xmlns:a16="http://schemas.microsoft.com/office/drawing/2014/main" id="{50BDFA57-CD9B-4D66-8F9D-AACEE55620C5}"/>
              </a:ext>
            </a:extLst>
          </p:cNvPr>
          <p:cNvSpPr>
            <a:spLocks noGrp="1"/>
          </p:cNvSpPr>
          <p:nvPr/>
        </p:nvSpPr>
        <p:spPr>
          <a:xfrm>
            <a:off x="876300" y="3219450"/>
            <a:ext cx="9334500" cy="666750"/>
          </a:xfrm>
          <a:prstGeom prst="rect">
            <a:avLst/>
          </a:prstGeom>
          <a:solidFill>
            <a:srgbClr val="FFFFFF"/>
          </a:solidFill>
          <a:ln w="19050">
            <a:solidFill>
              <a:srgbClr val="2F80ED"/>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CC13A67E-90F5-4747-8C2A-A9604E198BE5}"/>
              </a:ext>
            </a:extLst>
          </p:cNvPr>
          <p:cNvSpPr>
            <a:spLocks noGrp="1"/>
          </p:cNvSpPr>
          <p:nvPr/>
        </p:nvSpPr>
        <p:spPr>
          <a:xfrm>
            <a:off x="1104900" y="337185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67788"/>
                </a:solidFill>
                <a:latin typeface="Avenir Next"/>
                <a:ea typeface="Avenir Next"/>
                <a:cs typeface="Avenir Next"/>
              </a:defRPr>
            </a:pPr>
            <a:r>
              <a:rPr sz="975" b="1">
                <a:solidFill>
                  <a:srgbClr val="667788"/>
                </a:solidFill>
                <a:latin typeface="Avenir Next"/>
                <a:ea typeface="Avenir Next"/>
                <a:cs typeface="Avenir Next"/>
              </a:rPr>
              <a:t>Contract Address</a:t>
            </a:r>
          </a:p>
        </p:txBody>
      </p:sp>
      <p:sp>
        <p:nvSpPr>
          <p:cNvPr id="43" name="正方形/長方形 42">
            <a:extLst>
              <a:ext uri="{FF2B5EF4-FFF2-40B4-BE49-F238E27FC236}">
                <a16:creationId xmlns:a16="http://schemas.microsoft.com/office/drawing/2014/main" id="{A3F677E4-0D08-45B9-A82A-992B0F6A117E}"/>
              </a:ext>
            </a:extLst>
          </p:cNvPr>
          <p:cNvSpPr>
            <a:spLocks noGrp="1"/>
          </p:cNvSpPr>
          <p:nvPr/>
        </p:nvSpPr>
        <p:spPr>
          <a:xfrm>
            <a:off x="1104900" y="3619500"/>
            <a:ext cx="8382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Menlo"/>
                <a:ea typeface="Menlo"/>
                <a:cs typeface="Menlo"/>
              </a:defRPr>
            </a:pPr>
            <a:r>
              <a:rPr sz="1275" b="1">
                <a:solidFill>
                  <a:srgbClr val="1D2733"/>
                </a:solidFill>
                <a:latin typeface="Menlo"/>
                <a:ea typeface="Menlo"/>
                <a:cs typeface="Menlo"/>
              </a:rPr>
              <a:t>0x56f1bcf9abad742ee34c36e338baa078a175693d</a:t>
            </a:r>
          </a:p>
        </p:txBody>
      </p:sp>
      <p:sp>
        <p:nvSpPr>
          <p:cNvPr id="44" name="正方形/長方形 43">
            <a:extLst>
              <a:ext uri="{FF2B5EF4-FFF2-40B4-BE49-F238E27FC236}">
                <a16:creationId xmlns:a16="http://schemas.microsoft.com/office/drawing/2014/main" id="{FAA25A12-C15F-41F2-BCDA-DF5FBF68BB95}"/>
              </a:ext>
            </a:extLst>
          </p:cNvPr>
          <p:cNvSpPr>
            <a:spLocks noGrp="1"/>
          </p:cNvSpPr>
          <p:nvPr/>
        </p:nvSpPr>
        <p:spPr>
          <a:xfrm>
            <a:off x="876300" y="4171950"/>
            <a:ext cx="9334500" cy="819150"/>
          </a:xfrm>
          <a:prstGeom prst="rect">
            <a:avLst/>
          </a:prstGeom>
          <a:solidFill>
            <a:srgbClr val="FFFFFF"/>
          </a:solidFill>
          <a:ln w="19050">
            <a:solidFill>
              <a:srgbClr val="8BE06B"/>
            </a:solidFill>
            <a:prstDash val="solid"/>
          </a:ln>
        </p:spPr>
        <p:txBody>
          <a:bodyPr/>
          <a:lstStyle/>
          <a:p>
            <a:endParaRPr lang="ja-JP" altLang="en-US"/>
          </a:p>
        </p:txBody>
      </p:sp>
      <p:sp>
        <p:nvSpPr>
          <p:cNvPr id="45" name="正方形/長方形 44">
            <a:extLst>
              <a:ext uri="{FF2B5EF4-FFF2-40B4-BE49-F238E27FC236}">
                <a16:creationId xmlns:a16="http://schemas.microsoft.com/office/drawing/2014/main" id="{BBAB22A8-ED45-45E7-B93A-53A3D3FBF69C}"/>
              </a:ext>
            </a:extLst>
          </p:cNvPr>
          <p:cNvSpPr>
            <a:spLocks noGrp="1"/>
          </p:cNvSpPr>
          <p:nvPr/>
        </p:nvSpPr>
        <p:spPr>
          <a:xfrm>
            <a:off x="1104900" y="432435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667788"/>
                </a:solidFill>
                <a:latin typeface="Avenir Next"/>
                <a:ea typeface="Avenir Next"/>
                <a:cs typeface="Avenir Next"/>
              </a:defRPr>
            </a:pPr>
            <a:r>
              <a:rPr sz="975" b="1">
                <a:solidFill>
                  <a:srgbClr val="667788"/>
                </a:solidFill>
                <a:latin typeface="Avenir Next"/>
                <a:ea typeface="Avenir Next"/>
                <a:cs typeface="Avenir Next"/>
              </a:rPr>
              <a:t>Deploy Transaction</a:t>
            </a:r>
          </a:p>
        </p:txBody>
      </p:sp>
      <p:sp>
        <p:nvSpPr>
          <p:cNvPr id="46" name="正方形/長方形 45">
            <a:extLst>
              <a:ext uri="{FF2B5EF4-FFF2-40B4-BE49-F238E27FC236}">
                <a16:creationId xmlns:a16="http://schemas.microsoft.com/office/drawing/2014/main" id="{6EF601FD-D9C7-4435-8DA6-E846A3F56213}"/>
              </a:ext>
            </a:extLst>
          </p:cNvPr>
          <p:cNvSpPr>
            <a:spLocks noGrp="1"/>
          </p:cNvSpPr>
          <p:nvPr/>
        </p:nvSpPr>
        <p:spPr>
          <a:xfrm>
            <a:off x="1104900" y="4572000"/>
            <a:ext cx="8572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3" b="1">
                <a:solidFill>
                  <a:srgbClr val="1D2733"/>
                </a:solidFill>
                <a:latin typeface="Menlo"/>
                <a:ea typeface="Menlo"/>
                <a:cs typeface="Menlo"/>
              </a:defRPr>
            </a:pPr>
            <a:r>
              <a:rPr sz="1013" b="1">
                <a:solidFill>
                  <a:srgbClr val="1D2733"/>
                </a:solidFill>
                <a:latin typeface="Menlo"/>
                <a:ea typeface="Menlo"/>
                <a:cs typeface="Menlo"/>
              </a:rPr>
              <a:t>0x68d243345a7c64f4d4f28b304bb9ad13cc5cba97bdc35eafd3a536e44957a4fb</a:t>
            </a:r>
          </a:p>
        </p:txBody>
      </p:sp>
      <p:sp>
        <p:nvSpPr>
          <p:cNvPr id="48" name="正方形/長方形 47">
            <a:extLst>
              <a:ext uri="{FF2B5EF4-FFF2-40B4-BE49-F238E27FC236}">
                <a16:creationId xmlns:a16="http://schemas.microsoft.com/office/drawing/2014/main" id="{07D7E4A2-7A2A-44FD-B6DA-9FCD413D243E}"/>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Sepolia deployment record</a:t>
            </a:r>
          </a:p>
        </p:txBody>
      </p:sp>
      <p:sp>
        <p:nvSpPr>
          <p:cNvPr id="49" name="正方形/長方形 48">
            <a:extLst>
              <a:ext uri="{FF2B5EF4-FFF2-40B4-BE49-F238E27FC236}">
                <a16:creationId xmlns:a16="http://schemas.microsoft.com/office/drawing/2014/main" id="{A9B5D1A5-E1D8-44EB-B650-B987C5DE9C3A}"/>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08</a:t>
            </a:r>
          </a:p>
        </p:txBody>
      </p:sp>
    </p:spTree>
    <p:extLst>
      <p:ext uri="{BB962C8B-B14F-4D97-AF65-F5344CB8AC3E}">
        <p14:creationId xmlns:p14="http://schemas.microsoft.com/office/powerpoint/2010/main" val="112283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正方形/長方形 51">
            <a:extLst>
              <a:ext uri="{FF2B5EF4-FFF2-40B4-BE49-F238E27FC236}">
                <a16:creationId xmlns:a16="http://schemas.microsoft.com/office/drawing/2014/main" id="{5F52FD5E-9D8D-47CF-BBB7-C0BADA799345}"/>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F6284C4B-5498-485A-8D82-AB096DCCB1B4}"/>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BDCB47A1-F27E-49E3-900D-A52CCF655C21}"/>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D8FDC042-F52A-450C-8D62-D3B5FFBF3EDF}"/>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BBD56C02-6CDC-4E79-AFD3-AE321AB4D6B3}"/>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A0065679-8DFE-4C4C-B3C4-BBA2574CF923}"/>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657B873C-7483-4D4D-AFFF-E4E7F4075257}"/>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4711D4DF-6D48-406A-B9C5-F852626AB756}"/>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DC2CD9F4-F2C8-4B01-AE39-E1AC668FF25A}"/>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5FC8E077-B52E-4441-9A4D-04E9B0AE4658}"/>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2BC43318-D027-430C-A71B-24E05E95F19B}"/>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DD4B76B0-F9AA-46A4-B42D-B8B0B9B7F5C1}"/>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5265D78F-B4C2-448D-A774-F2BE3E8A0C32}"/>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991F09E4-D890-4E98-86FD-A1735576C264}"/>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4615222B-701E-43A4-816D-DD36D42F7AF4}"/>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A586611E-7B07-4C45-B95B-C8E7B4331717}"/>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A10DA4BC-A5B0-432F-9A78-DAADCC32780A}"/>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F3302B02-2419-45A2-A968-BF3AF52AD324}"/>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FC279579-A190-4E04-AD49-C79AAD483398}"/>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88ABAE92-D24F-4239-9EF7-24262880DE2C}"/>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9A4238FB-1978-48D5-AD3B-F1086631DB9E}"/>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7EF00802-106A-44F8-A689-D8425096127B}"/>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6413EEEA-2E68-4E24-B83D-1B3872D4C510}"/>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11077751-A5F0-450D-A414-911FF0B7C04F}"/>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AAFEDA3D-45C1-48CC-BF8C-1134889C2910}"/>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1D770C51-6453-43B1-9859-6481C52B5023}"/>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324E0087-BB72-4E5B-A308-23A4E6CAF11F}"/>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B4DE5C6E-268D-4F49-9307-E7F490CF13AA}"/>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19B44D01-B360-4309-A217-F24D1E946D7F}"/>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3FA25720-A167-404A-A0F5-911B39519DAB}"/>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0B1A6F61-2FCC-41B2-BA97-B6DEC62305E7}"/>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32835972-DD3C-452C-A705-34BA6E9EC602}"/>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753EAAA7-F8E8-4BB2-8C91-047875B73851}"/>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F5811A3F-1510-4780-AD85-34BE5A93036D}"/>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75AC7D3A-9290-482A-8029-7A7390CACB90}"/>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実行結果: Web画面でテーマを確認</a:t>
            </a:r>
          </a:p>
        </p:txBody>
      </p:sp>
      <p:sp>
        <p:nvSpPr>
          <p:cNvPr id="36" name="正方形/長方形 35">
            <a:extLst>
              <a:ext uri="{FF2B5EF4-FFF2-40B4-BE49-F238E27FC236}">
                <a16:creationId xmlns:a16="http://schemas.microsoft.com/office/drawing/2014/main" id="{A6CCF8A4-A5D6-4997-BA0E-07D1CE3DEA77}"/>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スマートコントラクトの考え方を、レースゲーム画面でも見えるようにしました。</a:t>
            </a:r>
          </a:p>
        </p:txBody>
      </p:sp>
      <p:sp>
        <p:nvSpPr>
          <p:cNvPr id="37" name="正方形/長方形 36">
            <a:extLst>
              <a:ext uri="{FF2B5EF4-FFF2-40B4-BE49-F238E27FC236}">
                <a16:creationId xmlns:a16="http://schemas.microsoft.com/office/drawing/2014/main" id="{84D6E639-EAE7-4EF0-8A16-E4039BCD1CA6}"/>
              </a:ext>
            </a:extLst>
          </p:cNvPr>
          <p:cNvSpPr>
            <a:spLocks noGrp="1"/>
          </p:cNvSpPr>
          <p:nvPr/>
        </p:nvSpPr>
        <p:spPr>
          <a:xfrm>
            <a:off x="685800" y="1733550"/>
            <a:ext cx="1238250" cy="304800"/>
          </a:xfrm>
          <a:prstGeom prst="rect">
            <a:avLst/>
          </a:prstGeom>
          <a:solidFill>
            <a:srgbClr val="8BE06B"/>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D905F1D3-045A-4F2C-94F3-E5CFAAC49E1F}"/>
              </a:ext>
            </a:extLst>
          </p:cNvPr>
          <p:cNvSpPr>
            <a:spLocks noGrp="1"/>
          </p:cNvSpPr>
          <p:nvPr/>
        </p:nvSpPr>
        <p:spPr>
          <a:xfrm>
            <a:off x="781050" y="1800225"/>
            <a:ext cx="1047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25" b="1">
                <a:solidFill>
                  <a:srgbClr val="1D2733"/>
                </a:solidFill>
                <a:latin typeface="Avenir Next"/>
                <a:ea typeface="Avenir Next"/>
                <a:cs typeface="Avenir Next"/>
              </a:defRPr>
            </a:pPr>
            <a:r>
              <a:rPr sz="825" b="1">
                <a:solidFill>
                  <a:srgbClr val="1D2733"/>
                </a:solidFill>
                <a:latin typeface="Avenir Next"/>
                <a:ea typeface="Avenir Next"/>
                <a:cs typeface="Avenir Next"/>
              </a:rPr>
              <a:t>実行結果</a:t>
            </a:r>
          </a:p>
        </p:txBody>
      </p:sp>
      <p:pic>
        <p:nvPicPr>
          <p:cNvPr id="39" name="図 38"/>
          <p:cNvPicPr>
            <a:picLocks noChangeAspect="1"/>
          </p:cNvPicPr>
          <p:nvPr/>
        </p:nvPicPr>
        <p:blipFill>
          <a:blip r:embed="rId3"/>
          <a:stretch/>
        </p:blipFill>
        <p:spPr>
          <a:xfrm>
            <a:off x="702667" y="2209800"/>
            <a:ext cx="6443266" cy="3638550"/>
          </a:xfrm>
          <a:prstGeom prst="rect">
            <a:avLst/>
          </a:prstGeom>
        </p:spPr>
      </p:pic>
      <p:sp>
        <p:nvSpPr>
          <p:cNvPr id="40" name="正方形/長方形 39">
            <a:extLst>
              <a:ext uri="{FF2B5EF4-FFF2-40B4-BE49-F238E27FC236}">
                <a16:creationId xmlns:a16="http://schemas.microsoft.com/office/drawing/2014/main" id="{9375938C-47BD-49DD-BBF7-A6B546B1CA25}"/>
              </a:ext>
            </a:extLst>
          </p:cNvPr>
          <p:cNvSpPr>
            <a:spLocks noGrp="1"/>
          </p:cNvSpPr>
          <p:nvPr/>
        </p:nvSpPr>
        <p:spPr>
          <a:xfrm>
            <a:off x="685800" y="2209800"/>
            <a:ext cx="6477000" cy="3638550"/>
          </a:xfrm>
          <a:prstGeom prst="rect">
            <a:avLst/>
          </a:prstGeom>
          <a:solidFill>
            <a:srgbClr val="000000">
              <a:alpha val="0"/>
            </a:srgbClr>
          </a:solidFill>
          <a:ln w="11430">
            <a:solidFill>
              <a:srgbClr val="1D2733"/>
            </a:solidFill>
            <a:prstDash val="solid"/>
          </a:ln>
        </p:spPr>
        <p:txBody>
          <a:bodyPr/>
          <a:lstStyle/>
          <a:p>
            <a:endParaRPr lang="ja-JP" altLang="en-US"/>
          </a:p>
        </p:txBody>
      </p:sp>
      <p:sp>
        <p:nvSpPr>
          <p:cNvPr id="41" name="正方形/長方形 40">
            <a:extLst>
              <a:ext uri="{FF2B5EF4-FFF2-40B4-BE49-F238E27FC236}">
                <a16:creationId xmlns:a16="http://schemas.microsoft.com/office/drawing/2014/main" id="{9B0A0BA3-50CF-47F6-9148-BACDDAE87B26}"/>
              </a:ext>
            </a:extLst>
          </p:cNvPr>
          <p:cNvSpPr>
            <a:spLocks noGrp="1"/>
          </p:cNvSpPr>
          <p:nvPr/>
        </p:nvSpPr>
        <p:spPr>
          <a:xfrm>
            <a:off x="7620000" y="2724150"/>
            <a:ext cx="95250" cy="95250"/>
          </a:xfrm>
          <a:prstGeom prst="rect">
            <a:avLst/>
          </a:prstGeom>
          <a:solidFill>
            <a:srgbClr val="2F80ED"/>
          </a:solidFill>
          <a:ln w="0">
            <a:solidFill>
              <a:srgbClr val="000000">
                <a:alpha val="0"/>
              </a:srgbClr>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9D8A99F0-B1E1-4227-AA0A-C59673E75CB6}"/>
              </a:ext>
            </a:extLst>
          </p:cNvPr>
          <p:cNvSpPr>
            <a:spLocks noGrp="1"/>
          </p:cNvSpPr>
          <p:nvPr/>
        </p:nvSpPr>
        <p:spPr>
          <a:xfrm>
            <a:off x="7829550" y="2647950"/>
            <a:ext cx="2933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自分の車は `YOU` で表示</a:t>
            </a:r>
          </a:p>
        </p:txBody>
      </p:sp>
      <p:sp>
        <p:nvSpPr>
          <p:cNvPr id="43" name="正方形/長方形 42">
            <a:extLst>
              <a:ext uri="{FF2B5EF4-FFF2-40B4-BE49-F238E27FC236}">
                <a16:creationId xmlns:a16="http://schemas.microsoft.com/office/drawing/2014/main" id="{279F5ECD-84F9-4953-8AF7-F76EFAA29918}"/>
              </a:ext>
            </a:extLst>
          </p:cNvPr>
          <p:cNvSpPr>
            <a:spLocks noGrp="1"/>
          </p:cNvSpPr>
          <p:nvPr/>
        </p:nvSpPr>
        <p:spPr>
          <a:xfrm>
            <a:off x="7620000" y="3295650"/>
            <a:ext cx="95250" cy="95250"/>
          </a:xfrm>
          <a:prstGeom prst="rect">
            <a:avLst/>
          </a:prstGeom>
          <a:solidFill>
            <a:srgbClr val="FFB454"/>
          </a:solidFill>
          <a:ln w="0">
            <a:solidFill>
              <a:srgbClr val="000000">
                <a:alpha val="0"/>
              </a:srgbClr>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A4D13E0E-C1FB-4F38-BC7A-3DDAAAE82263}"/>
              </a:ext>
            </a:extLst>
          </p:cNvPr>
          <p:cNvSpPr>
            <a:spLocks noGrp="1"/>
          </p:cNvSpPr>
          <p:nvPr/>
        </p:nvSpPr>
        <p:spPr>
          <a:xfrm>
            <a:off x="7829550" y="3219450"/>
            <a:ext cx="2933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Control / Speed / Accel を強化</a:t>
            </a:r>
          </a:p>
        </p:txBody>
      </p:sp>
      <p:sp>
        <p:nvSpPr>
          <p:cNvPr id="45" name="正方形/長方形 44">
            <a:extLst>
              <a:ext uri="{FF2B5EF4-FFF2-40B4-BE49-F238E27FC236}">
                <a16:creationId xmlns:a16="http://schemas.microsoft.com/office/drawing/2014/main" id="{FB82F471-B195-4483-8D1A-7469E2F66216}"/>
              </a:ext>
            </a:extLst>
          </p:cNvPr>
          <p:cNvSpPr>
            <a:spLocks noGrp="1"/>
          </p:cNvSpPr>
          <p:nvPr/>
        </p:nvSpPr>
        <p:spPr>
          <a:xfrm>
            <a:off x="7620000" y="3867150"/>
            <a:ext cx="95250" cy="95250"/>
          </a:xfrm>
          <a:prstGeom prst="rect">
            <a:avLst/>
          </a:prstGeom>
          <a:solidFill>
            <a:srgbClr val="8BE06B"/>
          </a:solidFill>
          <a:ln w="0">
            <a:solidFill>
              <a:srgbClr val="000000">
                <a:alpha val="0"/>
              </a:srgbClr>
            </a:solidFill>
            <a:prstDash val="solid"/>
          </a:ln>
        </p:spPr>
        <p:txBody>
          <a:bodyPr/>
          <a:lstStyle/>
          <a:p>
            <a:endParaRPr lang="ja-JP" altLang="en-US"/>
          </a:p>
        </p:txBody>
      </p:sp>
      <p:sp>
        <p:nvSpPr>
          <p:cNvPr id="46" name="正方形/長方形 45">
            <a:extLst>
              <a:ext uri="{FF2B5EF4-FFF2-40B4-BE49-F238E27FC236}">
                <a16:creationId xmlns:a16="http://schemas.microsoft.com/office/drawing/2014/main" id="{B08B3196-19B4-4BDE-8709-753E597DA415}"/>
              </a:ext>
            </a:extLst>
          </p:cNvPr>
          <p:cNvSpPr>
            <a:spLocks noGrp="1"/>
          </p:cNvSpPr>
          <p:nvPr/>
        </p:nvSpPr>
        <p:spPr>
          <a:xfrm>
            <a:off x="7829550" y="3790950"/>
            <a:ext cx="2933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1周レースで順位が決まる</a:t>
            </a:r>
          </a:p>
        </p:txBody>
      </p:sp>
      <p:sp>
        <p:nvSpPr>
          <p:cNvPr id="47" name="正方形/長方形 46">
            <a:extLst>
              <a:ext uri="{FF2B5EF4-FFF2-40B4-BE49-F238E27FC236}">
                <a16:creationId xmlns:a16="http://schemas.microsoft.com/office/drawing/2014/main" id="{BBABC5FA-ED80-4A75-8912-24553BD53CF4}"/>
              </a:ext>
            </a:extLst>
          </p:cNvPr>
          <p:cNvSpPr>
            <a:spLocks noGrp="1"/>
          </p:cNvSpPr>
          <p:nvPr/>
        </p:nvSpPr>
        <p:spPr>
          <a:xfrm>
            <a:off x="7620000" y="4438650"/>
            <a:ext cx="95250" cy="95250"/>
          </a:xfrm>
          <a:prstGeom prst="rect">
            <a:avLst/>
          </a:prstGeom>
          <a:solidFill>
            <a:srgbClr val="F26D6D"/>
          </a:solidFill>
          <a:ln w="0">
            <a:solidFill>
              <a:srgbClr val="000000">
                <a:alpha val="0"/>
              </a:srgbClr>
            </a:solidFill>
            <a:prstDash val="solid"/>
          </a:ln>
        </p:spPr>
        <p:txBody>
          <a:bodyPr/>
          <a:lstStyle/>
          <a:p>
            <a:endParaRPr lang="ja-JP" altLang="en-US"/>
          </a:p>
        </p:txBody>
      </p:sp>
      <p:sp>
        <p:nvSpPr>
          <p:cNvPr id="48" name="正方形/長方形 47">
            <a:extLst>
              <a:ext uri="{FF2B5EF4-FFF2-40B4-BE49-F238E27FC236}">
                <a16:creationId xmlns:a16="http://schemas.microsoft.com/office/drawing/2014/main" id="{18CCF7A9-2320-49A5-A7DA-94DB7A8688EC}"/>
              </a:ext>
            </a:extLst>
          </p:cNvPr>
          <p:cNvSpPr>
            <a:spLocks noGrp="1"/>
          </p:cNvSpPr>
          <p:nvPr/>
        </p:nvSpPr>
        <p:spPr>
          <a:xfrm>
            <a:off x="7829550" y="4362450"/>
            <a:ext cx="29337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実際の支払い部分はSolidity側のpayableで表現</a:t>
            </a:r>
          </a:p>
        </p:txBody>
      </p:sp>
      <p:sp>
        <p:nvSpPr>
          <p:cNvPr id="50" name="正方形/長方形 49">
            <a:extLst>
              <a:ext uri="{FF2B5EF4-FFF2-40B4-BE49-F238E27FC236}">
                <a16:creationId xmlns:a16="http://schemas.microsoft.com/office/drawing/2014/main" id="{079501FC-CC08-4AE7-B2CA-E38D5A438D43}"/>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Source: local browser demo screenshot</a:t>
            </a:r>
          </a:p>
        </p:txBody>
      </p:sp>
      <p:sp>
        <p:nvSpPr>
          <p:cNvPr id="51" name="正方形/長方形 50">
            <a:extLst>
              <a:ext uri="{FF2B5EF4-FFF2-40B4-BE49-F238E27FC236}">
                <a16:creationId xmlns:a16="http://schemas.microsoft.com/office/drawing/2014/main" id="{2FE06C36-9329-4A21-8956-16B520E9BDDA}"/>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09</a:t>
            </a:r>
          </a:p>
        </p:txBody>
      </p:sp>
    </p:spTree>
    <p:extLst>
      <p:ext uri="{BB962C8B-B14F-4D97-AF65-F5344CB8AC3E}">
        <p14:creationId xmlns:p14="http://schemas.microsoft.com/office/powerpoint/2010/main" val="2138639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111D5FD8-7D6B-416D-917A-7953D996F9AC}"/>
              </a:ext>
            </a:extLst>
          </p:cNvPr>
          <p:cNvSpPr>
            <a:spLocks noGrp="1"/>
          </p:cNvSpPr>
          <p:nvPr/>
        </p:nvSpPr>
        <p:spPr>
          <a:xfrm>
            <a:off x="0" y="0"/>
            <a:ext cx="12192000" cy="6858000"/>
          </a:xfrm>
          <a:prstGeom prst="rect">
            <a:avLst/>
          </a:prstGeom>
          <a:solidFill>
            <a:srgbClr val="FCFAF1"/>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1FF7ADE5-D941-4369-AD0F-76D49D0FF22D}"/>
              </a:ext>
            </a:extLst>
          </p:cNvPr>
          <p:cNvSpPr>
            <a:spLocks noGrp="1"/>
          </p:cNvSpPr>
          <p:nvPr/>
        </p:nvSpPr>
        <p:spPr>
          <a:xfrm>
            <a:off x="0" y="914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B0B0EA18-0217-49FC-8AEA-1C7425880015}"/>
              </a:ext>
            </a:extLst>
          </p:cNvPr>
          <p:cNvSpPr>
            <a:spLocks noGrp="1"/>
          </p:cNvSpPr>
          <p:nvPr/>
        </p:nvSpPr>
        <p:spPr>
          <a:xfrm>
            <a:off x="0" y="1371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48132DE8-8A10-4FAA-9DA1-AD81C3154ED3}"/>
              </a:ext>
            </a:extLst>
          </p:cNvPr>
          <p:cNvSpPr>
            <a:spLocks noGrp="1"/>
          </p:cNvSpPr>
          <p:nvPr/>
        </p:nvSpPr>
        <p:spPr>
          <a:xfrm>
            <a:off x="0" y="1828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5" name="正方形/長方形 4">
            <a:extLst>
              <a:ext uri="{FF2B5EF4-FFF2-40B4-BE49-F238E27FC236}">
                <a16:creationId xmlns:a16="http://schemas.microsoft.com/office/drawing/2014/main" id="{023C0511-6F85-4992-9D4C-73BF2399C538}"/>
              </a:ext>
            </a:extLst>
          </p:cNvPr>
          <p:cNvSpPr>
            <a:spLocks noGrp="1"/>
          </p:cNvSpPr>
          <p:nvPr/>
        </p:nvSpPr>
        <p:spPr>
          <a:xfrm>
            <a:off x="0" y="2286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6" name="正方形/長方形 5">
            <a:extLst>
              <a:ext uri="{FF2B5EF4-FFF2-40B4-BE49-F238E27FC236}">
                <a16:creationId xmlns:a16="http://schemas.microsoft.com/office/drawing/2014/main" id="{9C92915D-B5BD-45B5-914D-428DB6A575BE}"/>
              </a:ext>
            </a:extLst>
          </p:cNvPr>
          <p:cNvSpPr>
            <a:spLocks noGrp="1"/>
          </p:cNvSpPr>
          <p:nvPr/>
        </p:nvSpPr>
        <p:spPr>
          <a:xfrm>
            <a:off x="0" y="2743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7" name="正方形/長方形 6">
            <a:extLst>
              <a:ext uri="{FF2B5EF4-FFF2-40B4-BE49-F238E27FC236}">
                <a16:creationId xmlns:a16="http://schemas.microsoft.com/office/drawing/2014/main" id="{80DACAD8-F3BC-4CBE-B131-7ABBE4A133CC}"/>
              </a:ext>
            </a:extLst>
          </p:cNvPr>
          <p:cNvSpPr>
            <a:spLocks noGrp="1"/>
          </p:cNvSpPr>
          <p:nvPr/>
        </p:nvSpPr>
        <p:spPr>
          <a:xfrm>
            <a:off x="0" y="3200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8" name="正方形/長方形 7">
            <a:extLst>
              <a:ext uri="{FF2B5EF4-FFF2-40B4-BE49-F238E27FC236}">
                <a16:creationId xmlns:a16="http://schemas.microsoft.com/office/drawing/2014/main" id="{A9BAE167-7BCB-473D-A4D0-3448BCDB77BE}"/>
              </a:ext>
            </a:extLst>
          </p:cNvPr>
          <p:cNvSpPr>
            <a:spLocks noGrp="1"/>
          </p:cNvSpPr>
          <p:nvPr/>
        </p:nvSpPr>
        <p:spPr>
          <a:xfrm>
            <a:off x="0" y="3657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9" name="正方形/長方形 8">
            <a:extLst>
              <a:ext uri="{FF2B5EF4-FFF2-40B4-BE49-F238E27FC236}">
                <a16:creationId xmlns:a16="http://schemas.microsoft.com/office/drawing/2014/main" id="{478F7488-A30A-40F6-8A52-9945FEA09122}"/>
              </a:ext>
            </a:extLst>
          </p:cNvPr>
          <p:cNvSpPr>
            <a:spLocks noGrp="1"/>
          </p:cNvSpPr>
          <p:nvPr/>
        </p:nvSpPr>
        <p:spPr>
          <a:xfrm>
            <a:off x="0" y="4114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0" name="正方形/長方形 9">
            <a:extLst>
              <a:ext uri="{FF2B5EF4-FFF2-40B4-BE49-F238E27FC236}">
                <a16:creationId xmlns:a16="http://schemas.microsoft.com/office/drawing/2014/main" id="{789DDB74-496B-4226-8BBB-F3C434F5E893}"/>
              </a:ext>
            </a:extLst>
          </p:cNvPr>
          <p:cNvSpPr>
            <a:spLocks noGrp="1"/>
          </p:cNvSpPr>
          <p:nvPr/>
        </p:nvSpPr>
        <p:spPr>
          <a:xfrm>
            <a:off x="0" y="45720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1" name="正方形/長方形 10">
            <a:extLst>
              <a:ext uri="{FF2B5EF4-FFF2-40B4-BE49-F238E27FC236}">
                <a16:creationId xmlns:a16="http://schemas.microsoft.com/office/drawing/2014/main" id="{A7F0C3D3-F15C-4CB9-A07D-51C962FC37B3}"/>
              </a:ext>
            </a:extLst>
          </p:cNvPr>
          <p:cNvSpPr>
            <a:spLocks noGrp="1"/>
          </p:cNvSpPr>
          <p:nvPr/>
        </p:nvSpPr>
        <p:spPr>
          <a:xfrm>
            <a:off x="0" y="50292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2" name="正方形/長方形 11">
            <a:extLst>
              <a:ext uri="{FF2B5EF4-FFF2-40B4-BE49-F238E27FC236}">
                <a16:creationId xmlns:a16="http://schemas.microsoft.com/office/drawing/2014/main" id="{218BF87E-4C96-4447-90A0-1CAC4E532295}"/>
              </a:ext>
            </a:extLst>
          </p:cNvPr>
          <p:cNvSpPr>
            <a:spLocks noGrp="1"/>
          </p:cNvSpPr>
          <p:nvPr/>
        </p:nvSpPr>
        <p:spPr>
          <a:xfrm>
            <a:off x="0" y="54864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3" name="正方形/長方形 12">
            <a:extLst>
              <a:ext uri="{FF2B5EF4-FFF2-40B4-BE49-F238E27FC236}">
                <a16:creationId xmlns:a16="http://schemas.microsoft.com/office/drawing/2014/main" id="{10E32817-A714-4165-9A75-46BF6B78DF00}"/>
              </a:ext>
            </a:extLst>
          </p:cNvPr>
          <p:cNvSpPr>
            <a:spLocks noGrp="1"/>
          </p:cNvSpPr>
          <p:nvPr/>
        </p:nvSpPr>
        <p:spPr>
          <a:xfrm>
            <a:off x="0" y="59436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4" name="正方形/長方形 13">
            <a:extLst>
              <a:ext uri="{FF2B5EF4-FFF2-40B4-BE49-F238E27FC236}">
                <a16:creationId xmlns:a16="http://schemas.microsoft.com/office/drawing/2014/main" id="{A2EA6575-B68E-48BA-BF15-A6B93B2E62CB}"/>
              </a:ext>
            </a:extLst>
          </p:cNvPr>
          <p:cNvSpPr>
            <a:spLocks noGrp="1"/>
          </p:cNvSpPr>
          <p:nvPr/>
        </p:nvSpPr>
        <p:spPr>
          <a:xfrm>
            <a:off x="0" y="6400800"/>
            <a:ext cx="12192000" cy="9525"/>
          </a:xfrm>
          <a:prstGeom prst="rect">
            <a:avLst/>
          </a:prstGeom>
          <a:solidFill>
            <a:srgbClr val="E8EEF1"/>
          </a:solidFill>
          <a:ln w="0">
            <a:solidFill>
              <a:srgbClr val="000000">
                <a:alpha val="0"/>
              </a:srgbClr>
            </a:solidFill>
            <a:prstDash val="solid"/>
          </a:ln>
        </p:spPr>
        <p:txBody>
          <a:bodyPr/>
          <a:lstStyle/>
          <a:p>
            <a:endParaRPr lang="ja-JP" altLang="en-US"/>
          </a:p>
        </p:txBody>
      </p:sp>
      <p:sp>
        <p:nvSpPr>
          <p:cNvPr id="15" name="正方形/長方形 14">
            <a:extLst>
              <a:ext uri="{FF2B5EF4-FFF2-40B4-BE49-F238E27FC236}">
                <a16:creationId xmlns:a16="http://schemas.microsoft.com/office/drawing/2014/main" id="{E11EB5A3-C43E-4389-AA7B-E0F4011720E1}"/>
              </a:ext>
            </a:extLst>
          </p:cNvPr>
          <p:cNvSpPr>
            <a:spLocks noGrp="1"/>
          </p:cNvSpPr>
          <p:nvPr/>
        </p:nvSpPr>
        <p:spPr>
          <a:xfrm>
            <a:off x="914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6" name="正方形/長方形 15">
            <a:extLst>
              <a:ext uri="{FF2B5EF4-FFF2-40B4-BE49-F238E27FC236}">
                <a16:creationId xmlns:a16="http://schemas.microsoft.com/office/drawing/2014/main" id="{9F2C50C4-2D30-47DE-A22B-4083713CF36A}"/>
              </a:ext>
            </a:extLst>
          </p:cNvPr>
          <p:cNvSpPr>
            <a:spLocks noGrp="1"/>
          </p:cNvSpPr>
          <p:nvPr/>
        </p:nvSpPr>
        <p:spPr>
          <a:xfrm>
            <a:off x="1524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7" name="正方形/長方形 16">
            <a:extLst>
              <a:ext uri="{FF2B5EF4-FFF2-40B4-BE49-F238E27FC236}">
                <a16:creationId xmlns:a16="http://schemas.microsoft.com/office/drawing/2014/main" id="{64C2CFE2-6186-4102-96C3-3D0B1D1DE6E6}"/>
              </a:ext>
            </a:extLst>
          </p:cNvPr>
          <p:cNvSpPr>
            <a:spLocks noGrp="1"/>
          </p:cNvSpPr>
          <p:nvPr/>
        </p:nvSpPr>
        <p:spPr>
          <a:xfrm>
            <a:off x="2133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8" name="正方形/長方形 17">
            <a:extLst>
              <a:ext uri="{FF2B5EF4-FFF2-40B4-BE49-F238E27FC236}">
                <a16:creationId xmlns:a16="http://schemas.microsoft.com/office/drawing/2014/main" id="{65D002F1-788F-49FB-8E6A-EFD7362354A1}"/>
              </a:ext>
            </a:extLst>
          </p:cNvPr>
          <p:cNvSpPr>
            <a:spLocks noGrp="1"/>
          </p:cNvSpPr>
          <p:nvPr/>
        </p:nvSpPr>
        <p:spPr>
          <a:xfrm>
            <a:off x="2743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19" name="正方形/長方形 18">
            <a:extLst>
              <a:ext uri="{FF2B5EF4-FFF2-40B4-BE49-F238E27FC236}">
                <a16:creationId xmlns:a16="http://schemas.microsoft.com/office/drawing/2014/main" id="{2D3ACCE3-417C-4881-95AD-02827E466C02}"/>
              </a:ext>
            </a:extLst>
          </p:cNvPr>
          <p:cNvSpPr>
            <a:spLocks noGrp="1"/>
          </p:cNvSpPr>
          <p:nvPr/>
        </p:nvSpPr>
        <p:spPr>
          <a:xfrm>
            <a:off x="3352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0" name="正方形/長方形 19">
            <a:extLst>
              <a:ext uri="{FF2B5EF4-FFF2-40B4-BE49-F238E27FC236}">
                <a16:creationId xmlns:a16="http://schemas.microsoft.com/office/drawing/2014/main" id="{334AA879-6E96-499E-B79B-AB078414CC1D}"/>
              </a:ext>
            </a:extLst>
          </p:cNvPr>
          <p:cNvSpPr>
            <a:spLocks noGrp="1"/>
          </p:cNvSpPr>
          <p:nvPr/>
        </p:nvSpPr>
        <p:spPr>
          <a:xfrm>
            <a:off x="3962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1" name="正方形/長方形 20">
            <a:extLst>
              <a:ext uri="{FF2B5EF4-FFF2-40B4-BE49-F238E27FC236}">
                <a16:creationId xmlns:a16="http://schemas.microsoft.com/office/drawing/2014/main" id="{2755777D-305D-4FF9-9004-238E121F3F72}"/>
              </a:ext>
            </a:extLst>
          </p:cNvPr>
          <p:cNvSpPr>
            <a:spLocks noGrp="1"/>
          </p:cNvSpPr>
          <p:nvPr/>
        </p:nvSpPr>
        <p:spPr>
          <a:xfrm>
            <a:off x="4572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2" name="正方形/長方形 21">
            <a:extLst>
              <a:ext uri="{FF2B5EF4-FFF2-40B4-BE49-F238E27FC236}">
                <a16:creationId xmlns:a16="http://schemas.microsoft.com/office/drawing/2014/main" id="{1D9D98FC-5290-480A-BFCD-A29F717366BC}"/>
              </a:ext>
            </a:extLst>
          </p:cNvPr>
          <p:cNvSpPr>
            <a:spLocks noGrp="1"/>
          </p:cNvSpPr>
          <p:nvPr/>
        </p:nvSpPr>
        <p:spPr>
          <a:xfrm>
            <a:off x="5181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3" name="正方形/長方形 22">
            <a:extLst>
              <a:ext uri="{FF2B5EF4-FFF2-40B4-BE49-F238E27FC236}">
                <a16:creationId xmlns:a16="http://schemas.microsoft.com/office/drawing/2014/main" id="{E2B33B96-0138-4E8A-B9E4-E0CDE101CDC4}"/>
              </a:ext>
            </a:extLst>
          </p:cNvPr>
          <p:cNvSpPr>
            <a:spLocks noGrp="1"/>
          </p:cNvSpPr>
          <p:nvPr/>
        </p:nvSpPr>
        <p:spPr>
          <a:xfrm>
            <a:off x="5791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4" name="正方形/長方形 23">
            <a:extLst>
              <a:ext uri="{FF2B5EF4-FFF2-40B4-BE49-F238E27FC236}">
                <a16:creationId xmlns:a16="http://schemas.microsoft.com/office/drawing/2014/main" id="{68CF5BB2-8B72-46E3-8752-302CCECC7154}"/>
              </a:ext>
            </a:extLst>
          </p:cNvPr>
          <p:cNvSpPr>
            <a:spLocks noGrp="1"/>
          </p:cNvSpPr>
          <p:nvPr/>
        </p:nvSpPr>
        <p:spPr>
          <a:xfrm>
            <a:off x="6400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5" name="正方形/長方形 24">
            <a:extLst>
              <a:ext uri="{FF2B5EF4-FFF2-40B4-BE49-F238E27FC236}">
                <a16:creationId xmlns:a16="http://schemas.microsoft.com/office/drawing/2014/main" id="{8534DDCF-E1FC-4074-B2DE-EC483F19E8E4}"/>
              </a:ext>
            </a:extLst>
          </p:cNvPr>
          <p:cNvSpPr>
            <a:spLocks noGrp="1"/>
          </p:cNvSpPr>
          <p:nvPr/>
        </p:nvSpPr>
        <p:spPr>
          <a:xfrm>
            <a:off x="7010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6" name="正方形/長方形 25">
            <a:extLst>
              <a:ext uri="{FF2B5EF4-FFF2-40B4-BE49-F238E27FC236}">
                <a16:creationId xmlns:a16="http://schemas.microsoft.com/office/drawing/2014/main" id="{167B1B60-35A0-4F6B-A25C-15302559DA6C}"/>
              </a:ext>
            </a:extLst>
          </p:cNvPr>
          <p:cNvSpPr>
            <a:spLocks noGrp="1"/>
          </p:cNvSpPr>
          <p:nvPr/>
        </p:nvSpPr>
        <p:spPr>
          <a:xfrm>
            <a:off x="7620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7" name="正方形/長方形 26">
            <a:extLst>
              <a:ext uri="{FF2B5EF4-FFF2-40B4-BE49-F238E27FC236}">
                <a16:creationId xmlns:a16="http://schemas.microsoft.com/office/drawing/2014/main" id="{E8B9129D-E565-4CE8-94FB-D944B21921BC}"/>
              </a:ext>
            </a:extLst>
          </p:cNvPr>
          <p:cNvSpPr>
            <a:spLocks noGrp="1"/>
          </p:cNvSpPr>
          <p:nvPr/>
        </p:nvSpPr>
        <p:spPr>
          <a:xfrm>
            <a:off x="8229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8" name="正方形/長方形 27">
            <a:extLst>
              <a:ext uri="{FF2B5EF4-FFF2-40B4-BE49-F238E27FC236}">
                <a16:creationId xmlns:a16="http://schemas.microsoft.com/office/drawing/2014/main" id="{11009C47-A06C-416D-90B6-6A995E1B93BD}"/>
              </a:ext>
            </a:extLst>
          </p:cNvPr>
          <p:cNvSpPr>
            <a:spLocks noGrp="1"/>
          </p:cNvSpPr>
          <p:nvPr/>
        </p:nvSpPr>
        <p:spPr>
          <a:xfrm>
            <a:off x="8839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29" name="正方形/長方形 28">
            <a:extLst>
              <a:ext uri="{FF2B5EF4-FFF2-40B4-BE49-F238E27FC236}">
                <a16:creationId xmlns:a16="http://schemas.microsoft.com/office/drawing/2014/main" id="{03BE1991-83A3-49D7-9E56-BA22F9E516E2}"/>
              </a:ext>
            </a:extLst>
          </p:cNvPr>
          <p:cNvSpPr>
            <a:spLocks noGrp="1"/>
          </p:cNvSpPr>
          <p:nvPr/>
        </p:nvSpPr>
        <p:spPr>
          <a:xfrm>
            <a:off x="94488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0" name="正方形/長方形 29">
            <a:extLst>
              <a:ext uri="{FF2B5EF4-FFF2-40B4-BE49-F238E27FC236}">
                <a16:creationId xmlns:a16="http://schemas.microsoft.com/office/drawing/2014/main" id="{7499EA2F-E4AE-4431-8E96-AB927ACF5AAA}"/>
              </a:ext>
            </a:extLst>
          </p:cNvPr>
          <p:cNvSpPr>
            <a:spLocks noGrp="1"/>
          </p:cNvSpPr>
          <p:nvPr/>
        </p:nvSpPr>
        <p:spPr>
          <a:xfrm>
            <a:off x="100584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1" name="正方形/長方形 30">
            <a:extLst>
              <a:ext uri="{FF2B5EF4-FFF2-40B4-BE49-F238E27FC236}">
                <a16:creationId xmlns:a16="http://schemas.microsoft.com/office/drawing/2014/main" id="{BEBEDDB2-D2A6-4CD9-9DB0-D739E2D73E22}"/>
              </a:ext>
            </a:extLst>
          </p:cNvPr>
          <p:cNvSpPr>
            <a:spLocks noGrp="1"/>
          </p:cNvSpPr>
          <p:nvPr/>
        </p:nvSpPr>
        <p:spPr>
          <a:xfrm>
            <a:off x="106680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2" name="正方形/長方形 31">
            <a:extLst>
              <a:ext uri="{FF2B5EF4-FFF2-40B4-BE49-F238E27FC236}">
                <a16:creationId xmlns:a16="http://schemas.microsoft.com/office/drawing/2014/main" id="{C479AA51-F890-4361-A372-721AFA05441B}"/>
              </a:ext>
            </a:extLst>
          </p:cNvPr>
          <p:cNvSpPr>
            <a:spLocks noGrp="1"/>
          </p:cNvSpPr>
          <p:nvPr/>
        </p:nvSpPr>
        <p:spPr>
          <a:xfrm>
            <a:off x="112776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3" name="正方形/長方形 32">
            <a:extLst>
              <a:ext uri="{FF2B5EF4-FFF2-40B4-BE49-F238E27FC236}">
                <a16:creationId xmlns:a16="http://schemas.microsoft.com/office/drawing/2014/main" id="{AA804348-53BF-4D8D-97A5-1E352B20F709}"/>
              </a:ext>
            </a:extLst>
          </p:cNvPr>
          <p:cNvSpPr>
            <a:spLocks noGrp="1"/>
          </p:cNvSpPr>
          <p:nvPr/>
        </p:nvSpPr>
        <p:spPr>
          <a:xfrm>
            <a:off x="11887200" y="0"/>
            <a:ext cx="9525" cy="6858000"/>
          </a:xfrm>
          <a:prstGeom prst="rect">
            <a:avLst/>
          </a:prstGeom>
          <a:solidFill>
            <a:srgbClr val="F1F4F3"/>
          </a:solidFill>
          <a:ln w="0">
            <a:solidFill>
              <a:srgbClr val="000000">
                <a:alpha val="0"/>
              </a:srgbClr>
            </a:solidFill>
            <a:prstDash val="solid"/>
          </a:ln>
        </p:spPr>
        <p:txBody>
          <a:bodyPr/>
          <a:lstStyle/>
          <a:p>
            <a:endParaRPr lang="ja-JP" altLang="en-US"/>
          </a:p>
        </p:txBody>
      </p:sp>
      <p:sp>
        <p:nvSpPr>
          <p:cNvPr id="34" name="正方形/長方形 33">
            <a:extLst>
              <a:ext uri="{FF2B5EF4-FFF2-40B4-BE49-F238E27FC236}">
                <a16:creationId xmlns:a16="http://schemas.microsoft.com/office/drawing/2014/main" id="{FE6B9020-820C-4563-A8D1-596A0A5E2454}"/>
              </a:ext>
            </a:extLst>
          </p:cNvPr>
          <p:cNvSpPr>
            <a:spLocks noGrp="1"/>
          </p:cNvSpPr>
          <p:nvPr/>
        </p:nvSpPr>
        <p:spPr>
          <a:xfrm>
            <a:off x="400050" y="0"/>
            <a:ext cx="38100" cy="6858000"/>
          </a:xfrm>
          <a:prstGeom prst="rect">
            <a:avLst/>
          </a:prstGeom>
          <a:solidFill>
            <a:srgbClr val="F7B2A8"/>
          </a:solidFill>
          <a:ln w="0">
            <a:solidFill>
              <a:srgbClr val="000000">
                <a:alpha val="0"/>
              </a:srgbClr>
            </a:solidFill>
            <a:prstDash val="solid"/>
          </a:ln>
        </p:spPr>
        <p:txBody>
          <a:bodyPr/>
          <a:lstStyle/>
          <a:p>
            <a:endParaRPr lang="ja-JP" altLang="en-US"/>
          </a:p>
        </p:txBody>
      </p:sp>
      <p:sp>
        <p:nvSpPr>
          <p:cNvPr id="35" name="正方形/長方形 34">
            <a:extLst>
              <a:ext uri="{FF2B5EF4-FFF2-40B4-BE49-F238E27FC236}">
                <a16:creationId xmlns:a16="http://schemas.microsoft.com/office/drawing/2014/main" id="{64D7BDFF-F376-42FF-A1E7-C93CB8D9DA7B}"/>
              </a:ext>
            </a:extLst>
          </p:cNvPr>
          <p:cNvSpPr>
            <a:spLocks noGrp="1"/>
          </p:cNvSpPr>
          <p:nvPr/>
        </p:nvSpPr>
        <p:spPr>
          <a:xfrm>
            <a:off x="685800" y="552450"/>
            <a:ext cx="99060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D2733"/>
                </a:solidFill>
                <a:latin typeface="Hiragino Sans"/>
                <a:ea typeface="Hiragino Sans"/>
                <a:cs typeface="Hiragino Sans"/>
              </a:defRPr>
            </a:pPr>
            <a:r>
              <a:rPr sz="2550" b="1">
                <a:solidFill>
                  <a:srgbClr val="1D2733"/>
                </a:solidFill>
                <a:latin typeface="Hiragino Sans"/>
                <a:ea typeface="Hiragino Sans"/>
                <a:cs typeface="Hiragino Sans"/>
              </a:rPr>
              <a:t>まとめ・感想</a:t>
            </a:r>
            <a:endParaRPr sz="2550" b="1" dirty="0">
              <a:solidFill>
                <a:srgbClr val="1D2733"/>
              </a:solidFill>
              <a:latin typeface="Hiragino Sans"/>
              <a:ea typeface="Hiragino Sans"/>
              <a:cs typeface="Hiragino Sans"/>
            </a:endParaRPr>
          </a:p>
        </p:txBody>
      </p:sp>
      <p:sp>
        <p:nvSpPr>
          <p:cNvPr id="36" name="正方形/長方形 35">
            <a:extLst>
              <a:ext uri="{FF2B5EF4-FFF2-40B4-BE49-F238E27FC236}">
                <a16:creationId xmlns:a16="http://schemas.microsoft.com/office/drawing/2014/main" id="{685D3C42-3BCC-4209-9D40-CB4E5C118D10}"/>
              </a:ext>
            </a:extLst>
          </p:cNvPr>
          <p:cNvSpPr>
            <a:spLocks noGrp="1"/>
          </p:cNvSpPr>
          <p:nvPr/>
        </p:nvSpPr>
        <p:spPr>
          <a:xfrm>
            <a:off x="704850" y="12573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667788"/>
                </a:solidFill>
                <a:latin typeface="Hiragino Sans"/>
                <a:ea typeface="Hiragino Sans"/>
                <a:cs typeface="Hiragino Sans"/>
              </a:defRPr>
            </a:pPr>
            <a:r>
              <a:rPr sz="1125" b="0">
                <a:solidFill>
                  <a:srgbClr val="667788"/>
                </a:solidFill>
                <a:latin typeface="Hiragino Sans"/>
                <a:ea typeface="Hiragino Sans"/>
                <a:cs typeface="Hiragino Sans"/>
              </a:rPr>
              <a:t>要件を満たすだけでなく、何のためのコードかを意識して作りました。</a:t>
            </a:r>
          </a:p>
        </p:txBody>
      </p:sp>
      <p:sp>
        <p:nvSpPr>
          <p:cNvPr id="37" name="正方形/長方形 36">
            <a:extLst>
              <a:ext uri="{FF2B5EF4-FFF2-40B4-BE49-F238E27FC236}">
                <a16:creationId xmlns:a16="http://schemas.microsoft.com/office/drawing/2014/main" id="{B75EA34A-1A67-4AC8-AC8C-B42C4C81E82A}"/>
              </a:ext>
            </a:extLst>
          </p:cNvPr>
          <p:cNvSpPr>
            <a:spLocks noGrp="1"/>
          </p:cNvSpPr>
          <p:nvPr/>
        </p:nvSpPr>
        <p:spPr>
          <a:xfrm>
            <a:off x="781050" y="1962150"/>
            <a:ext cx="1619250" cy="609600"/>
          </a:xfrm>
          <a:prstGeom prst="rect">
            <a:avLst/>
          </a:prstGeom>
          <a:solidFill>
            <a:srgbClr val="FFE37A"/>
          </a:solidFill>
          <a:ln w="11430">
            <a:solidFill>
              <a:srgbClr val="1D2733"/>
            </a:solidFill>
            <a:prstDash val="solid"/>
          </a:ln>
        </p:spPr>
        <p:txBody>
          <a:bodyPr/>
          <a:lstStyle/>
          <a:p>
            <a:endParaRPr lang="ja-JP" altLang="en-US"/>
          </a:p>
        </p:txBody>
      </p:sp>
      <p:sp>
        <p:nvSpPr>
          <p:cNvPr id="38" name="正方形/長方形 37">
            <a:extLst>
              <a:ext uri="{FF2B5EF4-FFF2-40B4-BE49-F238E27FC236}">
                <a16:creationId xmlns:a16="http://schemas.microsoft.com/office/drawing/2014/main" id="{1F7D3106-E344-4A99-9E60-C152D188B050}"/>
              </a:ext>
            </a:extLst>
          </p:cNvPr>
          <p:cNvSpPr>
            <a:spLocks noGrp="1"/>
          </p:cNvSpPr>
          <p:nvPr/>
        </p:nvSpPr>
        <p:spPr>
          <a:xfrm>
            <a:off x="952500" y="2133600"/>
            <a:ext cx="1276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D2733"/>
                </a:solidFill>
                <a:latin typeface="Hiragino Sans"/>
                <a:ea typeface="Hiragino Sans"/>
                <a:cs typeface="Hiragino Sans"/>
              </a:defRPr>
            </a:pPr>
            <a:r>
              <a:rPr sz="1275" b="1">
                <a:solidFill>
                  <a:srgbClr val="1D2733"/>
                </a:solidFill>
                <a:latin typeface="Hiragino Sans"/>
                <a:ea typeface="Hiragino Sans"/>
                <a:cs typeface="Hiragino Sans"/>
              </a:rPr>
              <a:t>まとめ</a:t>
            </a:r>
          </a:p>
        </p:txBody>
      </p:sp>
      <p:sp>
        <p:nvSpPr>
          <p:cNvPr id="39" name="正方形/長方形 38">
            <a:extLst>
              <a:ext uri="{FF2B5EF4-FFF2-40B4-BE49-F238E27FC236}">
                <a16:creationId xmlns:a16="http://schemas.microsoft.com/office/drawing/2014/main" id="{73AF6EB2-BF89-4985-8102-AE0085E4505A}"/>
              </a:ext>
            </a:extLst>
          </p:cNvPr>
          <p:cNvSpPr>
            <a:spLocks noGrp="1"/>
          </p:cNvSpPr>
          <p:nvPr/>
        </p:nvSpPr>
        <p:spPr>
          <a:xfrm>
            <a:off x="895350" y="2990850"/>
            <a:ext cx="95250" cy="95250"/>
          </a:xfrm>
          <a:prstGeom prst="rect">
            <a:avLst/>
          </a:prstGeom>
          <a:solidFill>
            <a:srgbClr val="8BE06B"/>
          </a:solidFill>
          <a:ln w="0">
            <a:solidFill>
              <a:srgbClr val="000000">
                <a:alpha val="0"/>
              </a:srgbClr>
            </a:solidFill>
            <a:prstDash val="solid"/>
          </a:ln>
        </p:spPr>
        <p:txBody>
          <a:bodyPr/>
          <a:lstStyle/>
          <a:p>
            <a:endParaRPr lang="ja-JP" altLang="en-US"/>
          </a:p>
        </p:txBody>
      </p:sp>
      <p:sp>
        <p:nvSpPr>
          <p:cNvPr id="40" name="正方形/長方形 39">
            <a:extLst>
              <a:ext uri="{FF2B5EF4-FFF2-40B4-BE49-F238E27FC236}">
                <a16:creationId xmlns:a16="http://schemas.microsoft.com/office/drawing/2014/main" id="{2B901CCE-D4F0-4424-9086-EAED6F336637}"/>
              </a:ext>
            </a:extLst>
          </p:cNvPr>
          <p:cNvSpPr>
            <a:spLocks noGrp="1"/>
          </p:cNvSpPr>
          <p:nvPr/>
        </p:nvSpPr>
        <p:spPr>
          <a:xfrm>
            <a:off x="1104900" y="2914650"/>
            <a:ext cx="5124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external / modifier / payable / Event / Sepolia deploy を全部入れた</a:t>
            </a:r>
          </a:p>
        </p:txBody>
      </p:sp>
      <p:sp>
        <p:nvSpPr>
          <p:cNvPr id="41" name="正方形/長方形 40">
            <a:extLst>
              <a:ext uri="{FF2B5EF4-FFF2-40B4-BE49-F238E27FC236}">
                <a16:creationId xmlns:a16="http://schemas.microsoft.com/office/drawing/2014/main" id="{7980A7FA-8496-4D41-A270-A6F1D3D8D964}"/>
              </a:ext>
            </a:extLst>
          </p:cNvPr>
          <p:cNvSpPr>
            <a:spLocks noGrp="1"/>
          </p:cNvSpPr>
          <p:nvPr/>
        </p:nvSpPr>
        <p:spPr>
          <a:xfrm>
            <a:off x="895350" y="3562350"/>
            <a:ext cx="95250" cy="95250"/>
          </a:xfrm>
          <a:prstGeom prst="rect">
            <a:avLst/>
          </a:prstGeom>
          <a:solidFill>
            <a:srgbClr val="2F80ED"/>
          </a:solidFill>
          <a:ln w="0">
            <a:solidFill>
              <a:srgbClr val="000000">
                <a:alpha val="0"/>
              </a:srgbClr>
            </a:solidFill>
            <a:prstDash val="solid"/>
          </a:ln>
        </p:spPr>
        <p:txBody>
          <a:bodyPr/>
          <a:lstStyle/>
          <a:p>
            <a:endParaRPr lang="ja-JP" altLang="en-US"/>
          </a:p>
        </p:txBody>
      </p:sp>
      <p:sp>
        <p:nvSpPr>
          <p:cNvPr id="42" name="正方形/長方形 41">
            <a:extLst>
              <a:ext uri="{FF2B5EF4-FFF2-40B4-BE49-F238E27FC236}">
                <a16:creationId xmlns:a16="http://schemas.microsoft.com/office/drawing/2014/main" id="{26F638E3-8701-437F-B963-473C8E6CFECE}"/>
              </a:ext>
            </a:extLst>
          </p:cNvPr>
          <p:cNvSpPr>
            <a:spLocks noGrp="1"/>
          </p:cNvSpPr>
          <p:nvPr/>
        </p:nvSpPr>
        <p:spPr>
          <a:xfrm>
            <a:off x="1104900" y="3486150"/>
            <a:ext cx="5124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先生のポケモン例を参考に、レース車の強化テーマにした</a:t>
            </a:r>
          </a:p>
        </p:txBody>
      </p:sp>
      <p:sp>
        <p:nvSpPr>
          <p:cNvPr id="43" name="正方形/長方形 42">
            <a:extLst>
              <a:ext uri="{FF2B5EF4-FFF2-40B4-BE49-F238E27FC236}">
                <a16:creationId xmlns:a16="http://schemas.microsoft.com/office/drawing/2014/main" id="{DF781D97-872B-4E46-8DBF-F94A3AF48E14}"/>
              </a:ext>
            </a:extLst>
          </p:cNvPr>
          <p:cNvSpPr>
            <a:spLocks noGrp="1"/>
          </p:cNvSpPr>
          <p:nvPr/>
        </p:nvSpPr>
        <p:spPr>
          <a:xfrm>
            <a:off x="895350" y="4133850"/>
            <a:ext cx="95250" cy="95250"/>
          </a:xfrm>
          <a:prstGeom prst="rect">
            <a:avLst/>
          </a:prstGeom>
          <a:solidFill>
            <a:srgbClr val="FFB454"/>
          </a:solidFill>
          <a:ln w="0">
            <a:solidFill>
              <a:srgbClr val="000000">
                <a:alpha val="0"/>
              </a:srgbClr>
            </a:solidFill>
            <a:prstDash val="solid"/>
          </a:ln>
        </p:spPr>
        <p:txBody>
          <a:bodyPr/>
          <a:lstStyle/>
          <a:p>
            <a:endParaRPr lang="ja-JP" altLang="en-US"/>
          </a:p>
        </p:txBody>
      </p:sp>
      <p:sp>
        <p:nvSpPr>
          <p:cNvPr id="44" name="正方形/長方形 43">
            <a:extLst>
              <a:ext uri="{FF2B5EF4-FFF2-40B4-BE49-F238E27FC236}">
                <a16:creationId xmlns:a16="http://schemas.microsoft.com/office/drawing/2014/main" id="{5164BC7A-5F75-470F-B8D7-3B950EF86148}"/>
              </a:ext>
            </a:extLst>
          </p:cNvPr>
          <p:cNvSpPr>
            <a:spLocks noGrp="1"/>
          </p:cNvSpPr>
          <p:nvPr/>
        </p:nvSpPr>
        <p:spPr>
          <a:xfrm>
            <a:off x="1104900" y="4057650"/>
            <a:ext cx="5124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1D2733"/>
                </a:solidFill>
                <a:latin typeface="Hiragino Sans"/>
                <a:ea typeface="Hiragino Sans"/>
                <a:cs typeface="Hiragino Sans"/>
              </a:defRPr>
            </a:pPr>
            <a:r>
              <a:rPr sz="1125" b="0">
                <a:solidFill>
                  <a:srgbClr val="1D2733"/>
                </a:solidFill>
                <a:latin typeface="Hiragino Sans"/>
                <a:ea typeface="Hiragino Sans"/>
                <a:cs typeface="Hiragino Sans"/>
              </a:rPr>
              <a:t>コードは課題要件に関係ある部分だけ説明できるように整理した</a:t>
            </a:r>
          </a:p>
        </p:txBody>
      </p:sp>
      <p:sp>
        <p:nvSpPr>
          <p:cNvPr id="45" name="正方形/長方形 44">
            <a:extLst>
              <a:ext uri="{FF2B5EF4-FFF2-40B4-BE49-F238E27FC236}">
                <a16:creationId xmlns:a16="http://schemas.microsoft.com/office/drawing/2014/main" id="{88F2EE8A-1B5F-4AF1-9153-DF40A593DBF6}"/>
              </a:ext>
            </a:extLst>
          </p:cNvPr>
          <p:cNvSpPr>
            <a:spLocks noGrp="1"/>
          </p:cNvSpPr>
          <p:nvPr/>
        </p:nvSpPr>
        <p:spPr>
          <a:xfrm>
            <a:off x="5876925" y="1828800"/>
            <a:ext cx="4695825" cy="3238500"/>
          </a:xfrm>
          <a:prstGeom prst="rect">
            <a:avLst/>
          </a:prstGeom>
          <a:solidFill>
            <a:srgbClr val="FFF6CE"/>
          </a:solidFill>
          <a:ln w="14288">
            <a:solidFill>
              <a:srgbClr val="FFB454"/>
            </a:solidFill>
            <a:prstDash val="solid"/>
          </a:ln>
        </p:spPr>
        <p:txBody>
          <a:bodyPr/>
          <a:lstStyle/>
          <a:p>
            <a:endParaRPr lang="ja-JP" altLang="en-US"/>
          </a:p>
        </p:txBody>
      </p:sp>
      <p:sp>
        <p:nvSpPr>
          <p:cNvPr id="46" name="正方形/長方形 45">
            <a:extLst>
              <a:ext uri="{FF2B5EF4-FFF2-40B4-BE49-F238E27FC236}">
                <a16:creationId xmlns:a16="http://schemas.microsoft.com/office/drawing/2014/main" id="{1A9D5612-4856-44E4-8E9C-893F98ED7265}"/>
              </a:ext>
            </a:extLst>
          </p:cNvPr>
          <p:cNvSpPr>
            <a:spLocks noGrp="1"/>
          </p:cNvSpPr>
          <p:nvPr/>
        </p:nvSpPr>
        <p:spPr>
          <a:xfrm>
            <a:off x="6181725" y="2091418"/>
            <a:ext cx="24765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D2733"/>
                </a:solidFill>
                <a:latin typeface="Hiragino Sans"/>
                <a:ea typeface="Hiragino Sans"/>
                <a:cs typeface="Hiragino Sans"/>
              </a:defRPr>
            </a:pPr>
            <a:r>
              <a:rPr sz="1800" b="1" dirty="0" err="1">
                <a:solidFill>
                  <a:srgbClr val="1D2733"/>
                </a:solidFill>
                <a:latin typeface="Hiragino Sans"/>
                <a:ea typeface="Hiragino Sans"/>
                <a:cs typeface="Hiragino Sans"/>
              </a:rPr>
              <a:t>感想</a:t>
            </a:r>
            <a:endParaRPr sz="1800" b="1" dirty="0">
              <a:solidFill>
                <a:srgbClr val="1D2733"/>
              </a:solidFill>
              <a:latin typeface="Hiragino Sans"/>
              <a:ea typeface="Hiragino Sans"/>
              <a:cs typeface="Hiragino Sans"/>
            </a:endParaRPr>
          </a:p>
        </p:txBody>
      </p:sp>
      <p:sp>
        <p:nvSpPr>
          <p:cNvPr id="47" name="正方形/長方形 46">
            <a:extLst>
              <a:ext uri="{FF2B5EF4-FFF2-40B4-BE49-F238E27FC236}">
                <a16:creationId xmlns:a16="http://schemas.microsoft.com/office/drawing/2014/main" id="{08C094A3-5AE5-4FFA-9937-C3E851F6A2D3}"/>
              </a:ext>
            </a:extLst>
          </p:cNvPr>
          <p:cNvSpPr>
            <a:spLocks noGrp="1"/>
          </p:cNvSpPr>
          <p:nvPr/>
        </p:nvSpPr>
        <p:spPr>
          <a:xfrm>
            <a:off x="6096000" y="2590800"/>
            <a:ext cx="4248150" cy="20955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125" b="0">
                <a:solidFill>
                  <a:srgbClr val="1D2733"/>
                </a:solidFill>
                <a:latin typeface="Hiragino Sans"/>
                <a:ea typeface="Hiragino Sans"/>
                <a:cs typeface="Hiragino Sans"/>
              </a:defRPr>
            </a:pPr>
            <a:r>
              <a:rPr lang="ja-JP" altLang="en-US" sz="1125">
                <a:solidFill>
                  <a:srgbClr val="1D2733"/>
                </a:solidFill>
                <a:latin typeface="Hiragino Sans"/>
                <a:ea typeface="Hiragino Sans"/>
                <a:cs typeface="Hiragino Sans"/>
              </a:rPr>
              <a:t>最初は、仮想通貨とは何なのか、スマートコントラクトで何ができるのかを何となくしか理解できていませんでした。</a:t>
            </a:r>
          </a:p>
          <a:p>
            <a:pPr>
              <a:defRPr sz="1125" b="0">
                <a:solidFill>
                  <a:srgbClr val="1D2733"/>
                </a:solidFill>
                <a:latin typeface="Hiragino Sans"/>
                <a:ea typeface="Hiragino Sans"/>
                <a:cs typeface="Hiragino Sans"/>
              </a:defRPr>
            </a:pPr>
            <a:endParaRPr lang="ja-JP" altLang="en-US" sz="1125">
              <a:solidFill>
                <a:srgbClr val="1D2733"/>
              </a:solidFill>
              <a:latin typeface="Hiragino Sans"/>
              <a:ea typeface="Hiragino Sans"/>
              <a:cs typeface="Hiragino Sans"/>
            </a:endParaRPr>
          </a:p>
          <a:p>
            <a:pPr>
              <a:defRPr sz="1125" b="0">
                <a:solidFill>
                  <a:srgbClr val="1D2733"/>
                </a:solidFill>
                <a:latin typeface="Hiragino Sans"/>
                <a:ea typeface="Hiragino Sans"/>
                <a:cs typeface="Hiragino Sans"/>
              </a:defRPr>
            </a:pPr>
            <a:r>
              <a:rPr lang="ja-JP" altLang="en-US" sz="1125">
                <a:solidFill>
                  <a:srgbClr val="1D2733"/>
                </a:solidFill>
                <a:latin typeface="Hiragino Sans"/>
                <a:ea typeface="Hiragino Sans"/>
                <a:cs typeface="Hiragino Sans"/>
              </a:rPr>
              <a:t>今回、</a:t>
            </a:r>
            <a:r>
              <a:rPr lang="en-US" sz="1125" dirty="0">
                <a:solidFill>
                  <a:srgbClr val="1D2733"/>
                </a:solidFill>
                <a:latin typeface="Hiragino Sans"/>
                <a:ea typeface="Hiragino Sans"/>
                <a:cs typeface="Hiragino Sans"/>
              </a:rPr>
              <a:t>ETH</a:t>
            </a:r>
            <a:r>
              <a:rPr lang="ja-JP" altLang="en-US" sz="1125">
                <a:solidFill>
                  <a:srgbClr val="1D2733"/>
                </a:solidFill>
                <a:latin typeface="Hiragino Sans"/>
                <a:ea typeface="Hiragino Sans"/>
                <a:cs typeface="Hiragino Sans"/>
              </a:rPr>
              <a:t>を支払うことで能力値を強化するゲームを作ったことで、仮想通貨をただ送るだけではなく、サービスの中の機能として使えることが分かりました。</a:t>
            </a:r>
          </a:p>
          <a:p>
            <a:pPr>
              <a:defRPr sz="1125" b="0">
                <a:solidFill>
                  <a:srgbClr val="1D2733"/>
                </a:solidFill>
                <a:latin typeface="Hiragino Sans"/>
                <a:ea typeface="Hiragino Sans"/>
                <a:cs typeface="Hiragino Sans"/>
              </a:defRPr>
            </a:pPr>
            <a:endParaRPr lang="ja-JP" altLang="en-US" sz="1125">
              <a:solidFill>
                <a:srgbClr val="1D2733"/>
              </a:solidFill>
              <a:latin typeface="Hiragino Sans"/>
              <a:ea typeface="Hiragino Sans"/>
              <a:cs typeface="Hiragino Sans"/>
            </a:endParaRPr>
          </a:p>
          <a:p>
            <a:pPr>
              <a:defRPr sz="1125" b="0">
                <a:solidFill>
                  <a:srgbClr val="1D2733"/>
                </a:solidFill>
                <a:latin typeface="Hiragino Sans"/>
                <a:ea typeface="Hiragino Sans"/>
                <a:cs typeface="Hiragino Sans"/>
              </a:defRPr>
            </a:pPr>
            <a:r>
              <a:rPr lang="en-US" sz="1125" dirty="0">
                <a:solidFill>
                  <a:srgbClr val="1D2733"/>
                </a:solidFill>
                <a:latin typeface="Hiragino Sans"/>
                <a:ea typeface="Hiragino Sans"/>
                <a:cs typeface="Hiragino Sans"/>
              </a:rPr>
              <a:t>payable function </a:t>
            </a:r>
            <a:r>
              <a:rPr lang="ja-JP" altLang="en-US" sz="1125">
                <a:solidFill>
                  <a:srgbClr val="1D2733"/>
                </a:solidFill>
                <a:latin typeface="Hiragino Sans"/>
                <a:ea typeface="Hiragino Sans"/>
                <a:cs typeface="Hiragino Sans"/>
              </a:rPr>
              <a:t>によって支払いが必要な機能を作れることや、</a:t>
            </a:r>
            <a:r>
              <a:rPr lang="en-US" sz="1125" dirty="0">
                <a:solidFill>
                  <a:srgbClr val="1D2733"/>
                </a:solidFill>
                <a:latin typeface="Hiragino Sans"/>
                <a:ea typeface="Hiragino Sans"/>
                <a:cs typeface="Hiragino Sans"/>
              </a:rPr>
              <a:t>Event </a:t>
            </a:r>
            <a:r>
              <a:rPr lang="ja-JP" altLang="en-US" sz="1125">
                <a:solidFill>
                  <a:srgbClr val="1D2733"/>
                </a:solidFill>
                <a:latin typeface="Hiragino Sans"/>
                <a:ea typeface="Hiragino Sans"/>
                <a:cs typeface="Hiragino Sans"/>
              </a:rPr>
              <a:t>によってユーザーの操作を記録できることなどを使えば、ゲームや</a:t>
            </a:r>
            <a:r>
              <a:rPr lang="en-US" sz="1125" dirty="0">
                <a:solidFill>
                  <a:srgbClr val="1D2733"/>
                </a:solidFill>
                <a:latin typeface="Hiragino Sans"/>
                <a:ea typeface="Hiragino Sans"/>
                <a:cs typeface="Hiragino Sans"/>
              </a:rPr>
              <a:t>Web</a:t>
            </a:r>
            <a:r>
              <a:rPr lang="ja-JP" altLang="en-US" sz="1125">
                <a:solidFill>
                  <a:srgbClr val="1D2733"/>
                </a:solidFill>
                <a:latin typeface="Hiragino Sans"/>
                <a:ea typeface="Hiragino Sans"/>
                <a:cs typeface="Hiragino Sans"/>
              </a:rPr>
              <a:t>サービスの中で、支払いと機能を結びつけた開発ができると感じました。</a:t>
            </a:r>
          </a:p>
        </p:txBody>
      </p:sp>
      <p:sp>
        <p:nvSpPr>
          <p:cNvPr id="49" name="正方形/長方形 48">
            <a:extLst>
              <a:ext uri="{FF2B5EF4-FFF2-40B4-BE49-F238E27FC236}">
                <a16:creationId xmlns:a16="http://schemas.microsoft.com/office/drawing/2014/main" id="{A8A98E28-C1C6-4863-B527-77BFE67E2E30}"/>
              </a:ext>
            </a:extLst>
          </p:cNvPr>
          <p:cNvSpPr>
            <a:spLocks noGrp="1"/>
          </p:cNvSpPr>
          <p:nvPr/>
        </p:nvSpPr>
        <p:spPr>
          <a:xfrm>
            <a:off x="685800" y="6515100"/>
            <a:ext cx="7905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38" b="0">
                <a:solidFill>
                  <a:srgbClr val="96A0A8"/>
                </a:solidFill>
                <a:latin typeface="Avenir Next"/>
                <a:ea typeface="Avenir Next"/>
                <a:cs typeface="Avenir Next"/>
              </a:defRPr>
            </a:pPr>
            <a:r>
              <a:rPr sz="638" b="0">
                <a:solidFill>
                  <a:srgbClr val="96A0A8"/>
                </a:solidFill>
                <a:latin typeface="Avenir Next"/>
                <a:ea typeface="Avenir Next"/>
                <a:cs typeface="Avenir Next"/>
              </a:rPr>
              <a:t>Final slide</a:t>
            </a:r>
          </a:p>
        </p:txBody>
      </p:sp>
      <p:sp>
        <p:nvSpPr>
          <p:cNvPr id="50" name="正方形/長方形 49">
            <a:extLst>
              <a:ext uri="{FF2B5EF4-FFF2-40B4-BE49-F238E27FC236}">
                <a16:creationId xmlns:a16="http://schemas.microsoft.com/office/drawing/2014/main" id="{46CEA378-EE7A-450A-972D-EC51A8EF85BB}"/>
              </a:ext>
            </a:extLst>
          </p:cNvPr>
          <p:cNvSpPr>
            <a:spLocks noGrp="1"/>
          </p:cNvSpPr>
          <p:nvPr/>
        </p:nvSpPr>
        <p:spPr>
          <a:xfrm>
            <a:off x="10953750" y="6419850"/>
            <a:ext cx="57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125" b="1">
                <a:solidFill>
                  <a:srgbClr val="667788"/>
                </a:solidFill>
                <a:latin typeface="Avenir Next"/>
                <a:ea typeface="Avenir Next"/>
                <a:cs typeface="Avenir Next"/>
              </a:defRPr>
            </a:pPr>
            <a:r>
              <a:rPr sz="1125" b="1">
                <a:solidFill>
                  <a:srgbClr val="667788"/>
                </a:solidFill>
                <a:latin typeface="Avenir Next"/>
                <a:ea typeface="Avenir Next"/>
                <a:cs typeface="Avenir Next"/>
              </a:rPr>
              <a:t>10</a:t>
            </a:r>
          </a:p>
        </p:txBody>
      </p:sp>
    </p:spTree>
    <p:extLst>
      <p:ext uri="{BB962C8B-B14F-4D97-AF65-F5344CB8AC3E}">
        <p14:creationId xmlns:p14="http://schemas.microsoft.com/office/powerpoint/2010/main" val="3452332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934</Words>
  <Application>Microsoft Macintosh PowerPoint</Application>
  <DocSecurity>0</DocSecurity>
  <PresentationFormat>ワイド画面</PresentationFormat>
  <Paragraphs>204</Paragraphs>
  <Slides>10</Slides>
  <Notes>10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Hiragino Sans</vt:lpstr>
      <vt:lpstr>Avenir Next</vt:lpstr>
      <vt:lpstr>Calibri</vt:lpstr>
      <vt:lpstr>Menlo</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MATSUDA Saisei</cp:lastModifiedBy>
  <cp:revision>2</cp:revision>
  <cp:lastPrinted>2026-05-14T04:44:19Z</cp:lastPrinted>
  <dcterms:created xsi:type="dcterms:W3CDTF">2026-05-14T04:09:44Z</dcterms:created>
  <dcterms:modified xsi:type="dcterms:W3CDTF">2026-05-14T05:08:05Z</dcterms:modified>
</cp:coreProperties>
</file>